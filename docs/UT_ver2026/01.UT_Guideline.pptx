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3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70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484">
            <a:extLst>
              <a:ext uri="{FF2B5EF4-FFF2-40B4-BE49-F238E27FC236}">
                <a16:creationId xmlns:a16="http://schemas.microsoft.com/office/drawing/2014/main" id="{0309D3D4-CCE6-6A8E-E2F8-9E9E98F3E77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4333500"/>
            <a:ext cx="996923" cy="810000"/>
          </a:xfrm>
          <a:prstGeom prst="rect">
            <a:avLst/>
          </a:prstGeom>
        </p:spPr>
      </p:pic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5FD327E5-4B2C-8612-981A-3CE9C0C061CC}"/>
              </a:ext>
            </a:extLst>
          </p:cNvPr>
          <p:cNvSpPr txBox="1">
            <a:spLocks/>
          </p:cNvSpPr>
          <p:nvPr userDrawn="1"/>
        </p:nvSpPr>
        <p:spPr>
          <a:xfrm>
            <a:off x="68400" y="4904625"/>
            <a:ext cx="2057400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87924" rtl="0" eaLnBrk="1" latinLnBrk="0" hangingPunct="1">
              <a:defRPr sz="1000" b="1" i="0" kern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Roboto"/>
              </a:defRPr>
            </a:lvl1pPr>
            <a:lvl2pPr marL="243962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7924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886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5848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9810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63772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07733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51695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8C316A-6D50-4372-B914-692F4BCC999D}" type="slidenum">
              <a:rPr kumimoji="1" lang="ja-JP" altLang="en-US" sz="135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/>
              <a:t>‹#›</a:t>
            </a:fld>
            <a:endParaRPr kumimoji="1" lang="ja-JP" altLang="en-US" sz="135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object 2271">
            <a:extLst>
              <a:ext uri="{FF2B5EF4-FFF2-40B4-BE49-F238E27FC236}">
                <a16:creationId xmlns:a16="http://schemas.microsoft.com/office/drawing/2014/main" id="{FBC807B5-33C9-1CD5-E3B1-AA5DA4A33EBF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323077" cy="1620000"/>
          </a:xfrm>
          <a:prstGeom prst="rect">
            <a:avLst/>
          </a:pr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52D39BC7-97E3-5A1B-F9AF-0FAEFB7D0D0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2304" y="135000"/>
            <a:ext cx="664615" cy="270000"/>
          </a:xfrm>
          <a:prstGeom prst="rect">
            <a:avLst/>
          </a:prstGeom>
        </p:spPr>
      </p:pic>
      <p:pic>
        <p:nvPicPr>
          <p:cNvPr id="13" name="object 3">
            <a:extLst>
              <a:ext uri="{FF2B5EF4-FFF2-40B4-BE49-F238E27FC236}">
                <a16:creationId xmlns:a16="http://schemas.microsoft.com/office/drawing/2014/main" id="{07F469C7-650D-6C2A-12F7-9674073C2441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" y="857250"/>
            <a:ext cx="9153606" cy="40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17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UNIT TEST GUIDELINE</a:t>
            </a:r>
            <a:endParaRPr lang="en-US" sz="38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FF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Phạm vi · Coverage · Tầng áp dụng · Quy trình thực hiện</a:t>
            </a:r>
            <a:endParaRPr lang="en-US" sz="14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Đối tượng: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Member mới có nền tảng Java   | 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  Phiên bản: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Phần 1: UT Guideline – Phạm vi &amp; Coverage</a:t>
            </a:r>
            <a:endParaRPr lang="en-US" sz="1000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NỘI DUNG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Nội dung buổi học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2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060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26060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01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1856232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Tại sao cần Unit Test?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" y="216712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Mục đích và giá trị thực tế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6060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08760"/>
            <a:ext cx="260604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08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02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10128" y="1856232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Kiến trúc &amp; Phạm vi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10128" y="216712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Tầng nào cần test, tầng nào miễn test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26060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5C6B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08760"/>
            <a:ext cx="2606040" cy="29260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508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03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44768" y="1856232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Mô hình PL → BL → DAO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44768" y="216712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Sơ đồ luồng và cách Mock dependency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26060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34640"/>
            <a:ext cx="26060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04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5488" y="3182112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Quy định Coverage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" y="349300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C0: 100% · C1: ≥80% · C2: ≥80%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26060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834640"/>
            <a:ext cx="2606040" cy="2926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8346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05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10128" y="3182112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Quy trình &amp; Convention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10128" y="349300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6 bước, naming rule, checklist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MỤC ĐÍCH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Tại sao cần Unit Test?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Unit Test không phải thủ tục — đây là lưới an toàn cho mọi lần thay đổi code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3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160520" cy="1097280"/>
          </a:xfrm>
          <a:prstGeom prst="rect">
            <a:avLst/>
          </a:prstGeom>
          <a:solidFill>
            <a:srgbClr val="F4F6F8"/>
          </a:solidFill>
          <a:ln w="1905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8288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16184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Phát hiện bug sớm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33272" y="19293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Bug tìm thấy ở giai đoạn UT tốn chi phí sửa ít hơn 10× so với bug phát hiện sau khi release.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54880" y="1508760"/>
            <a:ext cx="4160520" cy="1097280"/>
          </a:xfrm>
          <a:prstGeom prst="rect">
            <a:avLst/>
          </a:prstGeom>
          <a:solidFill>
            <a:srgbClr val="F4F6F8"/>
          </a:solidFill>
          <a:ln w="1905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50876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82880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68112" y="16184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Refactor an toàn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468112" y="19293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Có UT → có thể refactor hoặc thêm tính năng mà không sợ làm hỏng logic cũ.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20040" y="2926080"/>
            <a:ext cx="4160520" cy="1097280"/>
          </a:xfrm>
          <a:prstGeom prst="rect">
            <a:avLst/>
          </a:prstGeom>
          <a:solidFill>
            <a:srgbClr val="F4F6F8"/>
          </a:solidFill>
          <a:ln w="1905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292608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24612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3272" y="30358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Tài liệu sống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033272" y="334670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UT mô tả hành vi kỳ vọng của code. Đọc test case hiểu ngay function làm gì hơn đọc comment.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160520" cy="1097280"/>
          </a:xfrm>
          <a:prstGeom prst="rect">
            <a:avLst/>
          </a:prstGeom>
          <a:solidFill>
            <a:srgbClr val="F4F6F8"/>
          </a:solidFill>
          <a:ln w="1905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92608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24612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68112" y="30358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CI/CD gate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5468112" y="334670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Pipeline tự động chạy UT mỗi commit. Code không pass UT → không merge được vào main.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PHẠM VI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Phạm vi CẦN viết Unit Test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Tất cả 4 tầng đều có logic cần kiểm tra độc lập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4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1965960" cy="3310128"/>
          </a:xfrm>
          <a:prstGeom prst="rect">
            <a:avLst/>
          </a:prstGeom>
          <a:solidFill>
            <a:srgbClr val="EDE7F6"/>
          </a:solidFill>
          <a:ln w="25400">
            <a:solidFill>
              <a:srgbClr val="5C6B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44752"/>
            <a:ext cx="1965960" cy="47548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087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✓ CẦN TEST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11480" y="1975104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PL – Presentation Layer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11480" y="23042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C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ManagedBean, Controller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1480" y="2596896"/>
            <a:ext cx="1755648" cy="18288"/>
          </a:xfrm>
          <a:prstGeom prst="rect">
            <a:avLst/>
          </a:prstGeom>
          <a:solidFill>
            <a:srgbClr val="5C6BC0">
              <a:alpha val="4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67004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Test luồng gọi BL, set đúng VO trả về màn hình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450592" y="1444752"/>
            <a:ext cx="1965960" cy="3310128"/>
          </a:xfrm>
          <a:prstGeom prst="rect">
            <a:avLst/>
          </a:prstGeom>
          <a:solidFill>
            <a:srgbClr val="E0F7FA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50592" y="1444752"/>
            <a:ext cx="19659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50876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07792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✓ CẦN TEST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542032" y="1975104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BL – Business Logic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2542032" y="23042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Service, EventLogic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2542032" y="2596896"/>
            <a:ext cx="1755648" cy="18288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42032" y="267004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Tầng quan trọng nhất — chứa toàn bộ logic nghiệp vụ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581144" y="1444752"/>
            <a:ext cx="1965960" cy="3310128"/>
          </a:xfrm>
          <a:prstGeom prst="rect">
            <a:avLst/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581144" y="1444752"/>
            <a:ext cx="196596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508760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038344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✓ CẦN TEST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672584" y="1975104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DAO – Data Access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672584" y="23042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75B6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Repository, DaoImpl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4672584" y="2596896"/>
            <a:ext cx="1755648" cy="18288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672584" y="267004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Test câu query đúng tham số, đúng kết quả trả về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6711696" y="1444752"/>
            <a:ext cx="1965960" cy="3310128"/>
          </a:xfrm>
          <a:prstGeom prst="rect">
            <a:avLst/>
          </a:prstGeom>
          <a:solidFill>
            <a:srgbClr val="FFF8E1"/>
          </a:solidFill>
          <a:ln w="25400">
            <a:solidFill>
              <a:srgbClr val="F57F1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711696" y="1444752"/>
            <a:ext cx="1965960" cy="47548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1508760"/>
            <a:ext cx="292608" cy="2926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168896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✓ CẦN TEST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6803136" y="1975104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External Service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6803136" y="23042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API Client, HTTP Adapter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6803136" y="2596896"/>
            <a:ext cx="1755648" cy="18288"/>
          </a:xfrm>
          <a:prstGeom prst="rect">
            <a:avLst/>
          </a:prstGeom>
          <a:solidFill>
            <a:srgbClr val="F57F17">
              <a:alpha val="40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803136" y="267004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Mock external call, test cả response thành công và lỗi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PHẠM VI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Phạm vi KHÔNG cần viết Unit Test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Nguyên tắc: không có logic xử lý → không có gì để test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5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1168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Loại class / method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1417320"/>
            <a:ext cx="320040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Lý do không cần test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23560" y="1417320"/>
            <a:ext cx="320040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Ví dụ thực tế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1828800"/>
            <a:ext cx="201168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1828800"/>
            <a:ext cx="320040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1828800"/>
            <a:ext cx="320040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288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DTO / VO / Entity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68880" y="182880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Chỉ có getter/setter thuần túy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15000" y="182880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KnrLinkConfigScDetailVO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35915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35915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235915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3591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Configuration class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68880" y="235915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Cấu hình framework, không có logic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15000" y="235915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AppConfig, SecurityConfig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2889504"/>
            <a:ext cx="201168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2889504"/>
            <a:ext cx="320040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889504"/>
            <a:ext cx="320040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895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Constants / Enum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468880" y="2889504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Chỉ là giá trị hằng số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715000" y="2889504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ErrorCode.java, StatusEnum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341985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41985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23560" y="341985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4198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Auto-generated code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468880" y="341985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Code được generate tự động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715000" y="341985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XxxMapper.java (MyBatis)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20040" y="3950208"/>
            <a:ext cx="201168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0" y="3950208"/>
            <a:ext cx="320040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23560" y="3950208"/>
            <a:ext cx="3200400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9502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Framework boilerplate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468880" y="39502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Lifecycle do framework quản lý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15000" y="39502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@PostConstruct gọi init()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720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400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💡  Nếu xóa method này đi mà không có test nào bị fail → method đó không cần test.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KIẾN TRÚC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Mô hình PL → BL → DAO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Hiểu luồng gọi nhau giúp biết CẦN MOCK cái gì khi viết UT cho từng tầng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6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1737360"/>
            <a:ext cx="1508760" cy="1005840"/>
          </a:xfrm>
          <a:prstGeom prst="rect">
            <a:avLst/>
          </a:prstGeom>
          <a:solidFill>
            <a:srgbClr val="ECEFF1"/>
          </a:solidFill>
          <a:ln w="31750">
            <a:solidFill>
              <a:srgbClr val="8A8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737360"/>
            <a:ext cx="1508760" cy="256032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0299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User /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93392" y="1737360"/>
            <a:ext cx="1508760" cy="1005840"/>
          </a:xfrm>
          <a:prstGeom prst="rect">
            <a:avLst/>
          </a:prstGeom>
          <a:solidFill>
            <a:srgbClr val="EDE7F6"/>
          </a:solidFill>
          <a:ln w="31750">
            <a:solidFill>
              <a:srgbClr val="5C6B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737360"/>
            <a:ext cx="1508760" cy="25603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20299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BC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PL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5C6BC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(ManagedBean)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913632" y="1737360"/>
            <a:ext cx="1508760" cy="1005840"/>
          </a:xfrm>
          <a:prstGeom prst="rect">
            <a:avLst/>
          </a:prstGeom>
          <a:solidFill>
            <a:srgbClr val="E0F7FA"/>
          </a:solidFill>
          <a:ln w="3175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13632" y="1737360"/>
            <a:ext cx="15087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0299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BL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(Service)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33872" y="1737360"/>
            <a:ext cx="1508760" cy="1005840"/>
          </a:xfrm>
          <a:prstGeom prst="rect">
            <a:avLst/>
          </a:prstGeom>
          <a:solidFill>
            <a:srgbClr val="E3F2FD"/>
          </a:solidFill>
          <a:ln w="31750">
            <a:solidFill>
              <a:srgbClr val="2E75B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33872" y="1737360"/>
            <a:ext cx="150876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0299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5B6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DAO</a:t>
            </a:r>
            <a:endParaRPr lang="en-US" sz="13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2E75B6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(Repository)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754112" y="1737360"/>
            <a:ext cx="1508760" cy="1005840"/>
          </a:xfrm>
          <a:prstGeom prst="rect">
            <a:avLst/>
          </a:prstGeom>
          <a:solidFill>
            <a:srgbClr val="ECEFF1"/>
          </a:solidFill>
          <a:ln w="31750">
            <a:solidFill>
              <a:srgbClr val="37474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54112" y="1737360"/>
            <a:ext cx="1508760" cy="25603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20299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764792" y="2212848"/>
            <a:ext cx="210312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5960" y="2130552"/>
            <a:ext cx="164592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2212848"/>
            <a:ext cx="393192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86200" y="2130552"/>
            <a:ext cx="164592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2212848"/>
            <a:ext cx="393192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2130552"/>
            <a:ext cx="164592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42632" y="2212848"/>
            <a:ext cx="393192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2130552"/>
            <a:ext cx="164592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8529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Mock: —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993392" y="28529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6BC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Mock: Mock BL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913632" y="28529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Mock: Mock DAO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33872" y="28529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E75B6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Mock: Mock DB (H2/in-mem)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754112" y="28529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Mock: —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6032" y="3127248"/>
            <a:ext cx="2880360" cy="1737360"/>
          </a:xfrm>
          <a:prstGeom prst="rect">
            <a:avLst/>
          </a:prstGeom>
          <a:solidFill>
            <a:srgbClr val="EDE7F6"/>
          </a:solidFill>
          <a:ln w="19050">
            <a:solidFill>
              <a:srgbClr val="5C6B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127248"/>
            <a:ext cx="2880360" cy="2743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1272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Khi test PL: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65760" y="3456432"/>
            <a:ext cx="266090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Mock toàn bộ BL.</a:t>
            </a:r>
            <a:endParaRPr lang="en-US" sz="11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PL không được gọi thật vào DB.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46120" y="3127248"/>
            <a:ext cx="2880360" cy="1737360"/>
          </a:xfrm>
          <a:prstGeom prst="rect">
            <a:avLst/>
          </a:prstGeom>
          <a:solidFill>
            <a:srgbClr val="E0F7FA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3127248"/>
            <a:ext cx="28803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1272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Khi test BL: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355848" y="3456432"/>
            <a:ext cx="266090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Mock toàn bộ DAO.</a:t>
            </a:r>
            <a:endParaRPr lang="en-US" sz="11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BL chỉ test logic nghiệp vụ.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236208" y="3127248"/>
            <a:ext cx="2651760" cy="1737360"/>
          </a:xfrm>
          <a:prstGeom prst="rect">
            <a:avLst/>
          </a:prstGeom>
          <a:solidFill>
            <a:srgbClr val="E3F2FD"/>
          </a:solidFill>
          <a:ln w="1905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36208" y="3127248"/>
            <a:ext cx="265176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Khi test DAO: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345936" y="3456432"/>
            <a:ext cx="243230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Dùng in-memory DB (H2).</a:t>
            </a:r>
            <a:endParaRPr lang="en-US" sz="11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Không mock — test SQL thật.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8CC3C255-17F0-E871-B7BC-319275EC9CD4}"/>
              </a:ext>
            </a:extLst>
          </p:cNvPr>
          <p:cNvSpPr/>
          <p:nvPr/>
        </p:nvSpPr>
        <p:spPr>
          <a:xfrm>
            <a:off x="365760" y="138199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Để biết chi tiết các tầng test gì xem file: </a:t>
            </a:r>
            <a:r>
              <a:rPr lang="en-US" sz="1200" b="1" i="1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UT_QuanDiemTest.xlsx</a:t>
            </a:r>
            <a:endParaRPr lang="en-US" sz="1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COVERAGE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3 Mức độ Coverage cần biết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C0 → C1 → C2: mỗi mức bổ sung thêm một lớp kiểm tra sâu hơn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7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2743200" cy="3401568"/>
          </a:xfrm>
          <a:prstGeom prst="rect">
            <a:avLst/>
          </a:prstGeom>
          <a:solidFill>
            <a:srgbClr val="E8F5E9"/>
          </a:solidFill>
          <a:ln w="3175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44752"/>
            <a:ext cx="274320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630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C0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1481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Statement Coverage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43000" y="1792224"/>
            <a:ext cx="914400" cy="23774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792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Times New Roman" panose="02020603050405020304" pitchFamily="18" charset="0"/>
              </a:rPr>
              <a:t>Target: 100%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9768" y="2157984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Là gì: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Mọi dòng lệnh được thực thi ít nhất 1 lần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9768" y="2816352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Cách đạt: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Viết TC đủ để code không có dòng nào không chạy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9768" y="347472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Hạn chế: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Không đảm bảo các nhánh đều được test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976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Công cụ: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Jacoco: "Missed Instructions"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64408" y="1444752"/>
            <a:ext cx="2743200" cy="3401568"/>
          </a:xfrm>
          <a:prstGeom prst="rect">
            <a:avLst/>
          </a:prstGeom>
          <a:solidFill>
            <a:srgbClr val="FFF8E1"/>
          </a:solidFill>
          <a:ln w="31750">
            <a:solidFill>
              <a:srgbClr val="F57F1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444752"/>
            <a:ext cx="2743200" cy="6400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4630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C1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87368" y="1481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087368" y="1792224"/>
            <a:ext cx="914400" cy="23774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87368" y="1792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  <a:latin typeface="Times New Roman" panose="02020603050405020304" pitchFamily="18" charset="0"/>
              </a:rPr>
              <a:t>Target: ≥ 80%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74136" y="2157984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Là gì: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Mọi nhánh if/else, switch-case đều được test cả True lẫn False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74136" y="2816352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Cách đạt: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Mỗi điều kiện phải có 1 TC cho True và 1 TC cho False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74136" y="347472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Hạn chế: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Chưa xét tổ hợp nhiều điều kiện cùng lúc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74136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Công cụ: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Jacoco: "Missed Branches"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08776" y="1444752"/>
            <a:ext cx="2743200" cy="3401568"/>
          </a:xfrm>
          <a:prstGeom prst="rect">
            <a:avLst/>
          </a:prstGeom>
          <a:solidFill>
            <a:srgbClr val="FBE9E7"/>
          </a:solidFill>
          <a:ln w="3175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1444752"/>
            <a:ext cx="2743200" cy="64008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8776" y="14630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C2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31736" y="1481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Condition Coverage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031736" y="1792224"/>
            <a:ext cx="914400" cy="23774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31736" y="1792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360C"/>
                </a:solidFill>
                <a:latin typeface="Times New Roman" panose="02020603050405020304" pitchFamily="18" charset="0"/>
              </a:rPr>
              <a:t>Target: ≥ 80%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18504" y="2157984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Là gì: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Từng điều kiện con trong biểu thức logic phức hợp đều được test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18504" y="2816352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Cách đạt: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if(A &amp;&amp; B): cần test A=T/B=T, A=T/B=F, A=F/B=T, A=F/B=F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18504" y="347472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Hạn chế: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Tốn nhiều TC hơn — chỉ áp dụng cho biểu thức phức tạp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18504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Công cụ: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Jacoco (MC/DC) hoặc Decision Table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VÍ DỤ C0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C0 – Statement Coverage: Ví dụ minh họa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Mọi dòng lệnh phải được thực thi — đây là mức tối thiểu bắt buộc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8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297680" cy="34564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public String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calcDiscount(int age, double price) {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double disc = 0;           // dòng 1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3682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if (age &gt;= 60) {           // dòng 2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disc = price * 0.2;      // dòng 3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 else {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disc = price * 0.05;     // dòng 4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5753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8770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return "Discount: " + disc; // dòng 5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1788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1389888"/>
            <a:ext cx="4114800" cy="3456432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389888"/>
            <a:ext cx="411480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3898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C0 – Cần ít nhất 2 TC để cover 100%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46320" y="1828800"/>
            <a:ext cx="393192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88366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TC_01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19472" y="213969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Given: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age = 65, price = 100.0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19472" y="23957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When: 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calcDiscount(65, 100.0)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19472" y="265176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Then: 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"Discount: 20.0"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19472" y="290779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Covers: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Dòng 1, 2, 3, 5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46320" y="3246120"/>
            <a:ext cx="393192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3009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TC_02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19472" y="355701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Given: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age = 30, price = 100.0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19472" y="38130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When: 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calcDiscount(30, 100.0)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19472" y="406908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Then: 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"Discount: 5.0"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19472" y="432511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Covers: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Dòng 1, 2, 4, 5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5488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TC_01 + TC_02 = 100% C0 (tất cả 5 dòng đều được chạy)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VÍ DỤ C1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C1 – Branch Coverage: Ví dụ minh họa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C0 đã đủ chưa? Thêm điều kiện: if (age &gt;= 60 &amp;&amp; isVIP)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9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297680" cy="33101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 (age &gt;= 60 &amp;&amp; isVIP) {   // nhánh A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disc = price * 0.3;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2494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else if (age &gt;= 60) {     // nhánh B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disc = price * 0.2;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else {                    // nhánh C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disc = price * 0.05;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7856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" y="4572000"/>
            <a:ext cx="4297680" cy="347472"/>
          </a:xfrm>
          <a:prstGeom prst="rect">
            <a:avLst/>
          </a:prstGeom>
          <a:solidFill>
            <a:srgbClr val="FFF3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C0 chỉ cần 1 TC (nhánh A) — nhưng nhánh B và C không được test!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1389888"/>
            <a:ext cx="4114800" cy="3456432"/>
          </a:xfrm>
          <a:prstGeom prst="rect">
            <a:avLst/>
          </a:prstGeom>
          <a:solidFill>
            <a:srgbClr val="FFF8E1"/>
          </a:solidFill>
          <a:ln w="25400">
            <a:solidFill>
              <a:srgbClr val="F57F1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89888"/>
            <a:ext cx="4114800" cy="32918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898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C1 – Cần 3 TC để cover 3 nhánh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1828800"/>
            <a:ext cx="39319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90195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</a:rPr>
              <a:t>TC_01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56048" y="190195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Given: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age=65, isVIP=true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56048" y="217627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Branch: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Nhánh A (True+True)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56048" y="241401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Nhánh này được cover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2788920"/>
            <a:ext cx="39319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86207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</a:rPr>
              <a:t>TC_02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56048" y="286207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Given: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age=65, isVIP=false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56048" y="313639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Branch: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Nhánh B (True+False)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56048" y="337413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Nhánh này được cover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46320" y="3749040"/>
            <a:ext cx="39319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82219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</a:rPr>
              <a:t>TC_03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56048" y="382219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Given: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age=30, isVIP=false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56048" y="409651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Branch: </a:t>
            </a: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Nhánh C (else)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56048" y="433425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Nhánh này được cover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54880" y="46817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TC_01 + TC_02 + TC_03 = 100% C1 (3 nhánh đều được test)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VÍ DỤ C2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C2 – Condition Coverage: Ví dụ minh họa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if (A &amp;&amp; B): C1 chỉ cần True/False — C2 kiểm tra từng tổ hợp A và B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10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3474720" cy="10515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 (age &gt;= 60 &amp;&amp; isVIP) {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 A = (age &gt;= 60)    B = (isVIP)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3474720" cy="2286000"/>
          </a:xfrm>
          <a:prstGeom prst="rect">
            <a:avLst/>
          </a:prstGeom>
          <a:solidFill>
            <a:srgbClr val="FBE9E7"/>
          </a:solidFill>
          <a:ln w="2540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60320"/>
            <a:ext cx="3474720" cy="329184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C2 – Truth Table: 4 tổ hợp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4048" y="2944368"/>
            <a:ext cx="438912" cy="274320"/>
          </a:xfrm>
          <a:prstGeom prst="rect">
            <a:avLst/>
          </a:prstGeom>
          <a:solidFill>
            <a:srgbClr val="BF360C">
              <a:alpha val="60000"/>
            </a:srgbClr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443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Times New Roman" panose="02020603050405020304" pitchFamily="18" charset="0"/>
              </a:rPr>
              <a:t>TC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1248" y="2944368"/>
            <a:ext cx="713232" cy="274320"/>
          </a:xfrm>
          <a:prstGeom prst="rect">
            <a:avLst/>
          </a:prstGeom>
          <a:solidFill>
            <a:srgbClr val="BF360C">
              <a:alpha val="60000"/>
            </a:srgbClr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9443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Times New Roman" panose="02020603050405020304" pitchFamily="18" charset="0"/>
              </a:rPr>
              <a:t>A (age≥60)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572768" y="2944368"/>
            <a:ext cx="713232" cy="274320"/>
          </a:xfrm>
          <a:prstGeom prst="rect">
            <a:avLst/>
          </a:prstGeom>
          <a:solidFill>
            <a:srgbClr val="BF360C">
              <a:alpha val="60000"/>
            </a:srgbClr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29443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Times New Roman" panose="02020603050405020304" pitchFamily="18" charset="0"/>
              </a:rPr>
              <a:t>B (isVIP)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304288" y="2944368"/>
            <a:ext cx="530352" cy="274320"/>
          </a:xfrm>
          <a:prstGeom prst="rect">
            <a:avLst/>
          </a:prstGeom>
          <a:solidFill>
            <a:srgbClr val="BF360C">
              <a:alpha val="60000"/>
            </a:srgbClr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04288" y="29443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Times New Roman" panose="02020603050405020304" pitchFamily="18" charset="0"/>
              </a:rPr>
              <a:t>A&amp;&amp;B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852928" y="2944368"/>
            <a:ext cx="868680" cy="274320"/>
          </a:xfrm>
          <a:prstGeom prst="rect">
            <a:avLst/>
          </a:prstGeom>
          <a:solidFill>
            <a:srgbClr val="BF360C">
              <a:alpha val="60000"/>
            </a:srgbClr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944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Times New Roman" panose="02020603050405020304" pitchFamily="18" charset="0"/>
              </a:rPr>
              <a:t>TC ID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84048" y="3255264"/>
            <a:ext cx="438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25526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41248" y="3255264"/>
            <a:ext cx="713232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25526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572768" y="3255264"/>
            <a:ext cx="713232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72768" y="325526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304288" y="3255264"/>
            <a:ext cx="530352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04288" y="3255264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852928" y="3255264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325526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TC_01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84048" y="3639312"/>
            <a:ext cx="438912" cy="347472"/>
          </a:xfrm>
          <a:prstGeom prst="rect">
            <a:avLst/>
          </a:prstGeom>
          <a:solidFill>
            <a:srgbClr val="FFF0E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6393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41248" y="3639312"/>
            <a:ext cx="713232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363931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572768" y="3639312"/>
            <a:ext cx="713232" cy="347472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72768" y="363931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304288" y="3639312"/>
            <a:ext cx="530352" cy="347472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04288" y="363931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852928" y="3639312"/>
            <a:ext cx="868680" cy="347472"/>
          </a:xfrm>
          <a:prstGeom prst="rect">
            <a:avLst/>
          </a:prstGeom>
          <a:solidFill>
            <a:srgbClr val="FFF0E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52928" y="363931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TC_02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84048" y="4023360"/>
            <a:ext cx="438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0233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41248" y="4023360"/>
            <a:ext cx="713232" cy="347472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402336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572768" y="4023360"/>
            <a:ext cx="713232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72768" y="402336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304288" y="4023360"/>
            <a:ext cx="530352" cy="347472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04288" y="402336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852928" y="4023360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52928" y="40233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TC_03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84048" y="4407408"/>
            <a:ext cx="438912" cy="347472"/>
          </a:xfrm>
          <a:prstGeom prst="rect">
            <a:avLst/>
          </a:prstGeom>
          <a:solidFill>
            <a:srgbClr val="FFF0E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440740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41248" y="4407408"/>
            <a:ext cx="713232" cy="347472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" y="44074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572768" y="4407408"/>
            <a:ext cx="713232" cy="347472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72768" y="44074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2304288" y="4407408"/>
            <a:ext cx="530352" cy="347472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04288" y="440740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2852928" y="4407408"/>
            <a:ext cx="868680" cy="347472"/>
          </a:xfrm>
          <a:prstGeom prst="rect">
            <a:avLst/>
          </a:prstGeom>
          <a:solidFill>
            <a:srgbClr val="FFF0E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52928" y="44074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TC_04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931920" y="1389888"/>
            <a:ext cx="4937760" cy="3456432"/>
          </a:xfrm>
          <a:prstGeom prst="rect">
            <a:avLst/>
          </a:prstGeom>
          <a:solidFill>
            <a:srgbClr val="F4F6F8"/>
          </a:solidFill>
          <a:ln w="1905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931920" y="1389888"/>
            <a:ext cx="493776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31920" y="13898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So sánh: C1 vs C2 cho if (A &amp;&amp; B)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041648" y="1847088"/>
            <a:ext cx="47091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F1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41648" y="1847088"/>
            <a:ext cx="502920" cy="9601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41648" y="184708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C1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4608576" y="192024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2 TC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4608576" y="224942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TC True (A=T,B=T) + TC False (A=T,B=F)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041648" y="2944368"/>
            <a:ext cx="47091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41648" y="2944368"/>
            <a:ext cx="502920" cy="9601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41648" y="294436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C2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4608576" y="30175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F360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4 TC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4608576" y="334670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Tất cả tổ hợp A và B đều được kiểm tra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3931920" y="4096512"/>
            <a:ext cx="4937760" cy="749808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69080" y="4133088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⚠ Khi nào dùng C2?  </a:t>
            </a: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Chỉ khi biểu thức if phức tạp (≥2 điều kiện AND/OR). Hàm đơn giản không cần.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MỤC TIÊU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Quy định Coverage của dự án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Coverage % là điều kiện tối thiểu — không phải đảm bảo chất lượng tuyệt đối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11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2606040" cy="2011680"/>
          </a:xfrm>
          <a:prstGeom prst="rect">
            <a:avLst/>
          </a:prstGeom>
          <a:solidFill>
            <a:srgbClr val="E8F5E9"/>
          </a:solidFill>
          <a:ln w="3175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>
              <a:latin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C0 – Statement Coverage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79806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Đo bằng Jacoco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37560" y="1389888"/>
            <a:ext cx="2606040" cy="2011680"/>
          </a:xfrm>
          <a:prstGeom prst="rect">
            <a:avLst/>
          </a:prstGeom>
          <a:solidFill>
            <a:srgbClr val="FFF8E1"/>
          </a:solidFill>
          <a:ln w="31750">
            <a:solidFill>
              <a:srgbClr val="F57F1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508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≥80%</a:t>
            </a:r>
            <a:endParaRPr lang="en-US" sz="440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29000" y="24871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C1 – Branch Coverage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29000" y="279806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Đo bằng Jacoco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1389888"/>
            <a:ext cx="2606040" cy="2011680"/>
          </a:xfrm>
          <a:prstGeom prst="rect">
            <a:avLst/>
          </a:prstGeom>
          <a:solidFill>
            <a:srgbClr val="FBE9E7"/>
          </a:solidFill>
          <a:ln w="3175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508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F360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≥80%</a:t>
            </a:r>
            <a:endParaRPr lang="en-US" sz="4400" dirty="0">
              <a:latin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09360" y="24871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360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C2 – Condition Coverage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09360" y="279806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Đo bằng Jacoco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547872"/>
            <a:ext cx="8366760" cy="12801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118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⚠  Hiểu đúng về Coverage %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Jacoco báo 100% C0 KHÔNG có nghĩa là code không có bug.</a:t>
            </a:r>
            <a:endParaRPr lang="en-US" sz="105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Ví dụ: if (a &gt; b) return a;  →  TC với a=5, b=3 cover 100% C0 nhưng KHÔNG test nhánh a ≤ b.</a:t>
            </a:r>
            <a:endParaRPr lang="en-US" sz="105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→ Vì vậy C1 và C2 tồn tại để bổ sung những gì C0 bỏ sót.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QUY TRÌNH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Quy trình thực hiện Unit Test – 6 bước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Workflow: Viết Excel TC trước → rồi mới code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12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1298448" cy="2606040"/>
          </a:xfrm>
          <a:prstGeom prst="rect">
            <a:avLst/>
          </a:prstGeom>
          <a:solidFill>
            <a:srgbClr val="F4F6F8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161848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9184" y="21671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Đọc DD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9184" y="2578608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Xác định hàm</a:t>
            </a:r>
            <a:endParaRPr lang="en-US" sz="10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cần test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4048" y="3703320"/>
            <a:ext cx="1078992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703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72768" y="2756916"/>
            <a:ext cx="128016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09928" y="1481328"/>
            <a:ext cx="1298448" cy="2606040"/>
          </a:xfrm>
          <a:prstGeom prst="rect">
            <a:avLst/>
          </a:prstGeom>
          <a:solidFill>
            <a:srgbClr val="F4F6F8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30552" y="1618488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0552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64792" y="21671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Thiết kế TC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64792" y="2578608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Điền Excel:</a:t>
            </a:r>
            <a:endParaRPr lang="en-US" sz="10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DS TC + Decision Table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819656" y="3703320"/>
            <a:ext cx="1078992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9656" y="3703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008376" y="2756916"/>
            <a:ext cx="128016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45536" y="1481328"/>
            <a:ext cx="1298448" cy="2606040"/>
          </a:xfrm>
          <a:prstGeom prst="rect">
            <a:avLst/>
          </a:prstGeom>
          <a:solidFill>
            <a:srgbClr val="F4F6F8"/>
          </a:solidFill>
          <a:ln w="25400">
            <a:solidFill>
              <a:srgbClr val="7B1FA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66160" y="1618488"/>
            <a:ext cx="457200" cy="45720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00400" y="21671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1FA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Review TC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00400" y="2578608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Mentor duyệt:</a:t>
            </a:r>
            <a:endParaRPr lang="en-US" sz="10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đủ C0/C1/C2?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55264" y="3703320"/>
            <a:ext cx="1078992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5264" y="3703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43984" y="2756916"/>
            <a:ext cx="128016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81144" y="1481328"/>
            <a:ext cx="1298448" cy="2606040"/>
          </a:xfrm>
          <a:prstGeom prst="rect">
            <a:avLst/>
          </a:prstGeom>
          <a:solidFill>
            <a:srgbClr val="F4F6F8"/>
          </a:solidFill>
          <a:ln w="25400">
            <a:solidFill>
              <a:srgbClr val="F57F1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01768" y="1618488"/>
            <a:ext cx="457200" cy="457200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36008" y="21671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Code JUnit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36008" y="2578608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Given–When</a:t>
            </a:r>
            <a:endParaRPr lang="en-US" sz="10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–Then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690872" y="3703320"/>
            <a:ext cx="1078992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3703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879592" y="2756916"/>
            <a:ext cx="128016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16752" y="1481328"/>
            <a:ext cx="1298448" cy="2606040"/>
          </a:xfrm>
          <a:prstGeom prst="rect">
            <a:avLst/>
          </a:prstGeom>
          <a:solidFill>
            <a:srgbClr val="F4F6F8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37376" y="161848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7376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071616" y="21671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Chạy Jacoco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071616" y="2578608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Kiểm tra</a:t>
            </a:r>
            <a:endParaRPr lang="en-US" sz="10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coverage %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126480" y="3703320"/>
            <a:ext cx="1078992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703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5200" y="2756916"/>
            <a:ext cx="128016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52360" y="1481328"/>
            <a:ext cx="1298448" cy="2606040"/>
          </a:xfrm>
          <a:prstGeom prst="rect">
            <a:avLst/>
          </a:prstGeom>
          <a:solidFill>
            <a:srgbClr val="F4F6F8"/>
          </a:solidFill>
          <a:ln w="25400">
            <a:solidFill>
              <a:srgbClr val="B7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872984" y="1618488"/>
            <a:ext cx="457200" cy="45720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72984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507224" y="21671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Review Code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507224" y="2578608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0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→ Pull Request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562088" y="3703320"/>
            <a:ext cx="1078992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62088" y="3703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7F17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95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CONVENTION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Naming Convention &amp; Anti-patterns</a:t>
            </a:r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Tên đúng → mentor review nhanh · Code đúng → không cần fix lại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13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03044"/>
            <a:ext cx="4846320" cy="3456432"/>
          </a:xfrm>
          <a:prstGeom prst="rect">
            <a:avLst/>
          </a:prstGeom>
          <a:solidFill>
            <a:srgbClr val="F4F6F8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8463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📐  Naming Convention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74986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Class test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1984710"/>
            <a:ext cx="4572000" cy="1828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180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386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[Class]Test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205479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→ KnrLinkConfigManagedBeanTest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49453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Method test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721686"/>
            <a:ext cx="4572000" cy="1828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064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386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should_[Result]_when_[Condition]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" y="301029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→ should_ReturnList_when_BLReturns3Items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265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Mock variable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526692"/>
            <a:ext cx="4572000" cy="1828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1405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386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mock[Interface]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36816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→ mockKnrLinkConfigEventLogic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3964157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Class đang test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251634"/>
            <a:ext cx="4572000" cy="1828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5873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3864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44608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→ KnrLinkConfigManagedBean sut</a:t>
            </a:r>
            <a:endParaRPr lang="en-US" sz="950" dirty="0">
              <a:latin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03520" y="1389888"/>
            <a:ext cx="3566160" cy="3456432"/>
          </a:xfrm>
          <a:prstGeom prst="rect">
            <a:avLst/>
          </a:prstGeom>
          <a:solidFill>
            <a:srgbClr val="FFF3F3"/>
          </a:solidFill>
          <a:ln w="25400">
            <a:solidFill>
              <a:srgbClr val="B7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0" y="1389888"/>
            <a:ext cx="3566160" cy="32918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1389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⛔  Anti-patterns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40680" y="18288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✗ </a:t>
            </a:r>
            <a:r>
              <a:rPr lang="en-US" sz="1000" i="1" dirty="0">
                <a:solidFill>
                  <a:srgbClr val="B7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catch(Exception e) {}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40680" y="21214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assertThrows(RuntimeException.class, ...)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40680" y="2432304"/>
            <a:ext cx="32004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25786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✗ </a:t>
            </a:r>
            <a:r>
              <a:rPr lang="en-US" sz="1000" i="1" dirty="0">
                <a:solidFill>
                  <a:srgbClr val="B7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assertNotNull(result)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40680" y="28712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assertEquals(3, result.size())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40680" y="3182112"/>
            <a:ext cx="32004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33284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✗ </a:t>
            </a:r>
            <a:r>
              <a:rPr lang="en-US" sz="1000" i="1" dirty="0">
                <a:solidFill>
                  <a:srgbClr val="B7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Thread.sleep(1000)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40680" y="36210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Dùng mock — không wait thật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40680" y="3931920"/>
            <a:ext cx="320040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40782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✗ </a:t>
            </a:r>
            <a:r>
              <a:rPr lang="en-US" sz="1000" i="1" dirty="0">
                <a:solidFill>
                  <a:srgbClr val="B7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Mockito.lenient() khắp nơi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40680" y="43708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Chỉ dùng khi có lý do rõ — ghi comment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Tóm tắt &amp; Bước tiếp theo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4 tầng PL/BL/DAO/External đều cần test — hiểu rõ luồng gọi nhau để biết cần Mock gì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61848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C0:100% bắt buộc · C1:≥80% · C2:≥80% — đo bằng Jacoco, không đếm tay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0939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C0/C1/C2 dùng để thiết kế TC trong Decision Table — không phải nhãn của từng TC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56946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Quy trình 6 bước: Đọc DD → TC Excel → Review → Code → Jacoco → Code Review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83210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46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14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362102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FF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📄  Tài liệu 2: C0/C1/C2 Guide – Cách đọc DD và thiết kế TC chi tiết</a:t>
            </a:r>
            <a:endParaRPr lang="en-US" sz="115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FF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🧰  Tài liệu 3: JUnit 5 &amp; Mockito Framework Guide</a:t>
            </a:r>
            <a:endParaRPr lang="en-US" sz="115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3891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FF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💻  Tài liệu 4: Sample Project – Code mẫu có comment giải thích</a:t>
            </a:r>
            <a:endParaRPr lang="en-US" sz="115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Times New Roman" panose="02020603050405020304" pitchFamily="18" charset="0"/>
              </a:rPr>
              <a:t>14 / 14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2861</TotalTime>
  <Words>1972</Words>
  <Application>Microsoft Office PowerPoint</Application>
  <PresentationFormat>On-screen Show (16:9)</PresentationFormat>
  <Paragraphs>323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BIZ UDPゴシック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Hai Nguyen Duy</cp:lastModifiedBy>
  <cp:revision>4</cp:revision>
  <dcterms:created xsi:type="dcterms:W3CDTF">2026-06-02T08:03:16Z</dcterms:created>
  <dcterms:modified xsi:type="dcterms:W3CDTF">2026-06-10T10:04:13Z</dcterms:modified>
</cp:coreProperties>
</file>