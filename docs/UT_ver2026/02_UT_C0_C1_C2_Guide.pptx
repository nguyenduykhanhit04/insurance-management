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1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5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762B-EBDC-CE8A-9AFF-4731E2A7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FAC49-D7C9-CFBA-90DE-F7CF1002F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F185F-F442-159E-074C-740DD26D1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2C8D-A72B-F07A-DA30-4C60CDC2D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71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3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8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058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6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291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3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9330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7796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9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782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5834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136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867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5" y="4670298"/>
            <a:ext cx="4456652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863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8768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3595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484">
            <a:extLst>
              <a:ext uri="{FF2B5EF4-FFF2-40B4-BE49-F238E27FC236}">
                <a16:creationId xmlns:a16="http://schemas.microsoft.com/office/drawing/2014/main" id="{0309D3D4-CCE6-6A8E-E2F8-9E9E98F3E77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333500"/>
            <a:ext cx="996923" cy="81000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5FD327E5-4B2C-8612-981A-3CE9C0C061CC}"/>
              </a:ext>
            </a:extLst>
          </p:cNvPr>
          <p:cNvSpPr txBox="1">
            <a:spLocks/>
          </p:cNvSpPr>
          <p:nvPr userDrawn="1"/>
        </p:nvSpPr>
        <p:spPr>
          <a:xfrm>
            <a:off x="68400" y="4904625"/>
            <a:ext cx="2057400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87924" rtl="0" eaLnBrk="1" latinLnBrk="0" hangingPunct="1">
              <a:defRPr sz="1000" b="1" i="0" kern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Roboto"/>
              </a:defRPr>
            </a:lvl1pPr>
            <a:lvl2pPr marL="24396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7924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886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5848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9810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6377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07733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51695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8C316A-6D50-4372-B914-692F4BCC999D}" type="slidenum">
              <a:rPr kumimoji="1" lang="ja-JP" altLang="en-US" sz="135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/>
              <a:t>‹#›</a:t>
            </a:fld>
            <a:endParaRPr kumimoji="1" lang="ja-JP" altLang="en-US" sz="135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object 2271">
            <a:extLst>
              <a:ext uri="{FF2B5EF4-FFF2-40B4-BE49-F238E27FC236}">
                <a16:creationId xmlns:a16="http://schemas.microsoft.com/office/drawing/2014/main" id="{FBC807B5-33C9-1CD5-E3B1-AA5DA4A33EBF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323077" cy="1620000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52D39BC7-97E3-5A1B-F9AF-0FAEFB7D0D0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2304" y="135000"/>
            <a:ext cx="664615" cy="270000"/>
          </a:xfrm>
          <a:prstGeom prst="rect">
            <a:avLst/>
          </a:prstGeom>
        </p:spPr>
      </p:pic>
      <p:pic>
        <p:nvPicPr>
          <p:cNvPr id="13" name="object 3">
            <a:extLst>
              <a:ext uri="{FF2B5EF4-FFF2-40B4-BE49-F238E27FC236}">
                <a16:creationId xmlns:a16="http://schemas.microsoft.com/office/drawing/2014/main" id="{07F469C7-650D-6C2A-12F7-9674073C244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" y="857250"/>
            <a:ext cx="9153606" cy="40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14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44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2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2316" y="134874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C0 / C1 / C2 COVERAGE GUIDE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Từ đọc tài liệu thiết </a:t>
            </a:r>
            <a:r>
              <a:rPr lang="en-US" sz="1400" i="1">
                <a:latin typeface="Calibri" pitchFamily="34" charset="0"/>
                <a:ea typeface="Calibri" pitchFamily="34" charset="-122"/>
                <a:cs typeface="Calibri" pitchFamily="34" charset="-120"/>
              </a:rPr>
              <a:t>kế (design detail) 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đến điền Decision Table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14600"/>
            <a:ext cx="2377440" cy="384048"/>
          </a:xfrm>
          <a:prstGeom prst="rect">
            <a:avLst/>
          </a:prstGeom>
          <a:solidFill>
            <a:srgbClr val="2E7D32">
              <a:alpha val="80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C0  Statement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2514600"/>
            <a:ext cx="2377440" cy="384048"/>
          </a:xfrm>
          <a:prstGeom prst="rect">
            <a:avLst/>
          </a:prstGeom>
          <a:solidFill>
            <a:srgbClr val="F57F17">
              <a:alpha val="80000"/>
            </a:srgbClr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C1  Branch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2514600"/>
            <a:ext cx="2377440" cy="384048"/>
          </a:xfrm>
          <a:prstGeom prst="rect">
            <a:avLst/>
          </a:prstGeom>
          <a:solidFill>
            <a:srgbClr val="BF360C">
              <a:alpha val="80000"/>
            </a:srgbClr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C2  Condition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526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Phần 2 của chuỗi training   |   Tiền đề: đã học UT Guideline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NỘI DUNG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buổi học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8229600" cy="457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81328"/>
            <a:ext cx="877824" cy="8778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813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7512" y="2907792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" y="3200400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 lại: C0/C1/C2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gì?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1481328"/>
            <a:ext cx="877824" cy="8778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0280" y="14813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87752" y="290779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200400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</a:t>
            </a:r>
            <a:r>
              <a:rPr lang="en-US" sz="11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design detail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test point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481328"/>
            <a:ext cx="877824" cy="8778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0520" y="14813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07992" y="2907792"/>
            <a:ext cx="182880" cy="1828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200400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481328"/>
            <a:ext cx="877824" cy="877824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14813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28232" y="2907792"/>
            <a:ext cx="182880" cy="18288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200400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01000" y="1481328"/>
            <a:ext cx="877824" cy="877824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01000" y="14813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48472" y="2907792"/>
            <a:ext cx="182880" cy="182880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3200400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InsuranceServiceImpl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370832"/>
            <a:ext cx="8503920" cy="475488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708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Ví dụ xuyên suốt: InsuranceServiceImpl — search(), getById(), delete(), exportCsv() — chính là class trong dự án thật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ÔN LẠI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/ C1 / C2 — Nhắc lại nhanh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mức là một câu hỏi khác nhau về code của bạn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1051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82296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863840" y="1755648"/>
            <a:ext cx="914400" cy="329184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7556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14813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này có được chạy không?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189280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statement đều được thực thi ít nhất 1 lần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1051560"/>
          </a:xfrm>
          <a:prstGeom prst="rect">
            <a:avLst/>
          </a:prstGeom>
          <a:solidFill>
            <a:srgbClr val="FFF8E1"/>
          </a:solidFill>
          <a:ln w="25400">
            <a:solidFill>
              <a:srgbClr val="F57F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78608"/>
            <a:ext cx="822960" cy="10515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78608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C1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863840" y="2944368"/>
            <a:ext cx="914400" cy="329184"/>
          </a:xfrm>
          <a:prstGeom prst="rect">
            <a:avLst/>
          </a:prstGeom>
          <a:solidFill>
            <a:srgbClr val="F57F17">
              <a:alpha val="8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9443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≥ 80%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1872" y="2670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True VÀ False có đều được test không?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1872" y="308152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nhánh if/else/switch đều có TC cover cả 2 chiều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8503920" cy="1051560"/>
          </a:xfrm>
          <a:prstGeom prst="rect">
            <a:avLst/>
          </a:prstGeom>
          <a:solidFill>
            <a:srgbClr val="FBE9E7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67328"/>
            <a:ext cx="822960" cy="105156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67328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863840" y="4133088"/>
            <a:ext cx="914400" cy="329184"/>
          </a:xfrm>
          <a:prstGeom prst="rect">
            <a:avLst/>
          </a:prstGeom>
          <a:solidFill>
            <a:srgbClr val="BF360C">
              <a:alpha val="85000"/>
            </a:srgbClr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≥ 80%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61872" y="38587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</a:t>
            </a: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điều kiện con trong if phức tạp đã đủ tổ hợp chưa?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61872" y="427024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sub-condition (A, B trong A &amp;&amp; B) đều được test T và 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ĐỌC design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</a:t>
            </a:r>
            <a:r>
              <a:rPr lang="en-US" sz="24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design detail </a:t>
            </a: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tìm Test Point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detail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(Detail Design) chứa đủ thông tin để xác định PHẢI test gì — nếu biết tìm đúng chỗ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160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64008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81051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572768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1  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hàm cần test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3272" y="192024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public method trong class là 1 UT scope. Xem method signature để biết input/output.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481328"/>
            <a:ext cx="4160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481328"/>
            <a:ext cx="64008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81051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68112" y="1572768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2  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xử lý (Flow)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68112" y="192024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sequence diagram hoặc mô tả logic. Mỗi rẽ nhánh (if/else) = 1 boundary cần test.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2999232"/>
            <a:ext cx="4160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F57F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999232"/>
            <a:ext cx="64008" cy="11704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32841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3272" y="3090672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3  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gọi đến tầng nào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33272" y="3438144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này gọi BL nào? DAO nào? Đây là những thứ cần Mock khi viết UT.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2999232"/>
            <a:ext cx="4160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999232"/>
            <a:ext cx="64008" cy="11704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2841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68112" y="3090672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4  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/ Error case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68112" y="3438144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detail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mô tả trường hợp lỗi không? Nếu có → bắt buộc phải có TC exception.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VÍ DỤ THỰC TẾ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design detail: </a:t>
            </a: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InsuranceServiceImpl — 4 methods cần 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</a:t>
            </a:r>
            <a:r>
              <a:rPr lang="en-US" sz="1200" i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design detail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thật → xác định ngay 4 thứ cần tìm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617720" cy="3456432"/>
          </a:xfrm>
          <a:prstGeom prst="rect">
            <a:avLst/>
          </a:prstGeom>
          <a:solidFill>
            <a:srgbClr val="FAFAFA"/>
          </a:solidFill>
          <a:ln w="19050">
            <a:solidFill>
              <a:srgbClr val="C0C0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89888"/>
            <a:ext cx="4617720" cy="310896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Trích đoạn Detail Design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7739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search(), getById(), delete(), exportCsv()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0025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InsuranceServiceImpl implements InsuranceService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2311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5488" y="24597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6883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search() — filter + phân trang + sort theo userFullName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9169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Gọi userRepository.searchByFilters() → map sang InsuranceResponse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1455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getById() — tìm User theo insuranceInternalId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3741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delete() — xóa User, cascade xóa Insurance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6027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exportCsv() — query all records → build CSV với UTF-8 BOM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8313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75488" y="40599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42885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Nếu không tìm thấy User → ném ResourceNotFoundException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45171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exportCsv() → ném IllegalStateException nếu lỗi 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1389888"/>
            <a:ext cx="3749040" cy="3456432"/>
          </a:xfrm>
          <a:prstGeom prst="rect">
            <a:avLst/>
          </a:prstGeom>
          <a:solidFill>
            <a:srgbClr val="F4F6F8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1389888"/>
            <a:ext cx="37490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389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Tìm thấy 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design detail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1810512"/>
            <a:ext cx="354787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1810512"/>
            <a:ext cx="658368" cy="621792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810512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8090"/>
                </a:solidFill>
              </a:rPr>
              <a:t>Tìm 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88736" y="186537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search(), getById()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delete(), exportCsv() — cần test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2542032"/>
            <a:ext cx="354787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2542032"/>
            <a:ext cx="658368" cy="621792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542032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5B6"/>
                </a:solidFill>
              </a:rPr>
              <a:t>Tìm 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88736" y="259689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Optional empty → throw / present → 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genderLabel, exportCsv byte[] = 2 nhóm assert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3273552"/>
            <a:ext cx="354787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3273552"/>
            <a:ext cx="658368" cy="621792"/>
          </a:xfrm>
          <a:prstGeom prst="rect">
            <a:avLst/>
          </a:prstGeom>
          <a:solidFill>
            <a:srgbClr val="F57F17">
              <a:alpha val="8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273552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7F17"/>
                </a:solidFill>
              </a:rPr>
              <a:t>Tìm 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88736" y="332841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userRepository,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companyRepository → cần @Mock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66360" y="4005072"/>
            <a:ext cx="3547872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4005072"/>
            <a:ext cx="658368" cy="621792"/>
          </a:xfrm>
          <a:prstGeom prst="rect">
            <a:avLst/>
          </a:prstGeom>
          <a:solidFill>
            <a:srgbClr val="BF360C">
              <a:alpha val="80000"/>
            </a:srgbClr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005072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F360C"/>
                </a:solidFill>
              </a:rPr>
              <a:t>Tìm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88736" y="405993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ResourceNotFoundException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Bắt buộc có TC exception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BOUNDARY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 — Ranh giới quyết định hành vi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boundary là một điểm trong code mà hành vi thay đổi → phải có TC test cả 2 phía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6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749808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là điều kiện tại đó hành vi của function thay đổi. Mỗi </a:t>
            </a:r>
            <a:r>
              <a:rPr lang="en-US" sz="12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/ switch / try-catch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trong code đều tạo ra ít nhất 1 boundary.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4160520" cy="1078992"/>
          </a:xfrm>
          <a:prstGeom prst="rect">
            <a:avLst/>
          </a:prstGeom>
          <a:solidFill>
            <a:srgbClr val="E0F7FA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24505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3408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Call boundary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6334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trả về dữ liệu hợp lệ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happy path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267712"/>
            <a:ext cx="4160520" cy="1078992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64608" y="24505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23408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boundary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26334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rỗng / 1 phần tử / nhiều phần tử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29260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edge case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4160520" cy="1078992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7307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6210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boundary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913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là null / blank vs có giá trị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null/blank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4160520" cy="1078992"/>
          </a:xfrm>
          <a:prstGeom prst="rect">
            <a:avLst/>
          </a:prstGeom>
          <a:solidFill>
            <a:srgbClr val="FBE9E7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37307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6210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boundary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913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/ DAO ném Exception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42062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exception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VÍ DỤ THỰC TẾ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Boundary Conditions trong InsuranceControllerTest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design detail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code → gạch chân từng điểm rẽ nhánh → đây chính là danh sách conditions trong Decision 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7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572000" cy="34564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81328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InsuranceControllerTest — @WebMvcTest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" y="1715153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1948978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user = userRepository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2182803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.findByInsuranceInsuranceInternalId(id); // [B1]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" y="2416629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Optional empty → throw [B1]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" y="2650454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user present → map response [B2]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" y="2884279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sexDivision: "01" or "02"? [B3]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" y="3118104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exportCsv: byte[] not empty? [B4]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3351929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companyRepo.findById() → empty? [B5]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" y="3585754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" y="3819579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(ResourceNotFoundException e) { // [B6]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" y="4053405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setErrorCode("Error ");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" y="4287230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" y="4521055"/>
            <a:ext cx="431596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389888"/>
            <a:ext cx="3794760" cy="3456432"/>
          </a:xfrm>
          <a:prstGeom prst="rect">
            <a:avLst/>
          </a:prstGeom>
          <a:solidFill>
            <a:srgbClr val="F4F6F8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1389888"/>
            <a:ext cx="37947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3898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Boundary Conditions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755648"/>
            <a:ext cx="3794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1755648"/>
            <a:ext cx="38404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75564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1847088"/>
            <a:ext cx="475488" cy="274320"/>
          </a:xfrm>
          <a:prstGeom prst="rect">
            <a:avLst/>
          </a:prstGeom>
          <a:solidFill>
            <a:srgbClr val="F57F17">
              <a:alpha val="80000"/>
            </a:srgbClr>
          </a:solidFill>
          <a:ln w="635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8470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</a:rPr>
              <a:t>C1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68112" y="17922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68112" y="1975104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present → trả InsuranceResponse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2249424"/>
            <a:ext cx="3794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2249424"/>
            <a:ext cx="384048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24942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2340864"/>
            <a:ext cx="475488" cy="274320"/>
          </a:xfrm>
          <a:prstGeom prst="rect">
            <a:avLst/>
          </a:prstGeom>
          <a:solidFill>
            <a:srgbClr val="F57F17">
              <a:alpha val="80000"/>
            </a:srgbClr>
          </a:solidFill>
          <a:ln w="6350">
            <a:solidFill>
              <a:srgbClr val="F57F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234086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</a:rPr>
              <a:t>C1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68112" y="2286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68112" y="2468880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Page: có data / empty list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2743200"/>
            <a:ext cx="3794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2743200"/>
            <a:ext cx="384048" cy="4572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7432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2834640"/>
            <a:ext cx="475488" cy="274320"/>
          </a:xfrm>
          <a:prstGeom prst="rect">
            <a:avLst/>
          </a:prstGeom>
          <a:solidFill>
            <a:srgbClr val="F57F17">
              <a:alpha val="80000"/>
            </a:srgbClr>
          </a:solidFill>
          <a:ln w="6350">
            <a:solidFill>
              <a:srgbClr val="F57F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28346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</a:rPr>
              <a:t>C1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68112" y="27797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genderLabel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68112" y="2962656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sexDivision=01 → "Nam" / 02 → "Nữ"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0" y="3236976"/>
            <a:ext cx="3794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0" y="3236976"/>
            <a:ext cx="384048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2369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0" y="3328416"/>
            <a:ext cx="475488" cy="274320"/>
          </a:xfrm>
          <a:prstGeom prst="rect">
            <a:avLst/>
          </a:prstGeom>
          <a:solidFill>
            <a:srgbClr val="BF360C">
              <a:alpha val="80000"/>
            </a:srgbClr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33284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360C"/>
                </a:solidFill>
              </a:rPr>
              <a:t>C2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68112" y="32735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68112" y="3456432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exportCsv → byte[] not empty vs empty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0" y="3730752"/>
            <a:ext cx="3794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0" y="3730752"/>
            <a:ext cx="384048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37307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29600" y="3822192"/>
            <a:ext cx="475488" cy="274320"/>
          </a:xfrm>
          <a:prstGeom prst="rect">
            <a:avLst/>
          </a:prstGeom>
          <a:solidFill>
            <a:srgbClr val="BF360C">
              <a:alpha val="80000"/>
            </a:srgbClr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38221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360C"/>
                </a:solidFill>
              </a:rPr>
              <a:t>C2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68112" y="3767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68112" y="3950208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companyRepo.findById() → Optional present vs empty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029200" y="4224528"/>
            <a:ext cx="3794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200" y="4224528"/>
            <a:ext cx="384048" cy="4572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42245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229600" y="4315968"/>
            <a:ext cx="475488" cy="27432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0" y="43159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C0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68112" y="42611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468112" y="4443984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empty → throw ResourceNotFoundException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DECISION TABLE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— Công cụ thiết kế TC trực quan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cột = 1 TC · Mỗi hàng = 1 điều kiện hoặc kết quả kỳ vọng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8 / 16</a:t>
            </a:r>
            <a:endParaRPr lang="en-US" sz="900" dirty="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5A683FF-9884-4AA4-7312-C19A11B664FB}"/>
              </a:ext>
            </a:extLst>
          </p:cNvPr>
          <p:cNvGrpSpPr/>
          <p:nvPr/>
        </p:nvGrpSpPr>
        <p:grpSpPr>
          <a:xfrm>
            <a:off x="320040" y="1572768"/>
            <a:ext cx="8731862" cy="2743200"/>
            <a:chOff x="320040" y="1389888"/>
            <a:chExt cx="9345168" cy="2926080"/>
          </a:xfrm>
        </p:grpSpPr>
        <p:sp>
          <p:nvSpPr>
            <p:cNvPr id="7" name="Shape 5"/>
            <p:cNvSpPr/>
            <p:nvPr/>
          </p:nvSpPr>
          <p:spPr>
            <a:xfrm>
              <a:off x="320040" y="1389888"/>
              <a:ext cx="2560320" cy="329184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0040" y="1389888"/>
              <a:ext cx="25603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Điều kiện / Kết quả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880360" y="1389888"/>
              <a:ext cx="969264" cy="329184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880360" y="1389888"/>
              <a:ext cx="9692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TC_01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849624" y="1389888"/>
              <a:ext cx="969264" cy="329184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849624" y="1389888"/>
              <a:ext cx="9692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TC_02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18888" y="1389888"/>
              <a:ext cx="969264" cy="329184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818888" y="1389888"/>
              <a:ext cx="9692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TC_03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788152" y="1389888"/>
              <a:ext cx="969264" cy="329184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788152" y="1389888"/>
              <a:ext cx="9692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TC_04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757416" y="1389888"/>
              <a:ext cx="969264" cy="329184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757416" y="1389888"/>
              <a:ext cx="9692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726680" y="1389888"/>
              <a:ext cx="969264" cy="329184"/>
            </a:xfrm>
            <a:prstGeom prst="rect">
              <a:avLst/>
            </a:prstGeom>
            <a:solidFill>
              <a:srgbClr val="7B1FA2"/>
            </a:solidFill>
            <a:ln w="12700">
              <a:solidFill>
                <a:srgbClr val="7B1FA2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726680" y="1389888"/>
              <a:ext cx="9692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TC_06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695944" y="1389888"/>
              <a:ext cx="969264" cy="329184"/>
            </a:xfrm>
            <a:prstGeom prst="rect">
              <a:avLst/>
            </a:prstGeom>
            <a:solidFill>
              <a:srgbClr val="7B1FA2"/>
            </a:solidFill>
            <a:ln w="12700">
              <a:solidFill>
                <a:srgbClr val="7B1FA2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695944" y="1389888"/>
              <a:ext cx="9692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20040" y="1719072"/>
              <a:ext cx="9345168" cy="256032"/>
            </a:xfrm>
            <a:prstGeom prst="rect">
              <a:avLst/>
            </a:prstGeom>
            <a:solidFill>
              <a:srgbClr val="E0F7FA"/>
            </a:solidFill>
            <a:ln w="6350">
              <a:solidFill>
                <a:srgbClr val="D0D8E4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29768" y="1719072"/>
              <a:ext cx="828446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CONDITIONS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1975104"/>
              <a:ext cx="256032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29768" y="1975104"/>
              <a:ext cx="234086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search() trả data (mock samplePage)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880360" y="1975104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880360" y="197510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849624" y="1975104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3849624" y="197510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818888" y="1975104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818888" y="197510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788152" y="1975104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5788152" y="197510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757416" y="1975104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6757416" y="197510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726680" y="1975104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726680" y="197510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695944" y="1975104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8695944" y="197510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20040" y="2322576"/>
              <a:ext cx="2560320" cy="347472"/>
            </a:xfrm>
            <a:prstGeom prst="rect">
              <a:avLst/>
            </a:prstGeom>
            <a:solidFill>
              <a:srgbClr val="F0FAF8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429768" y="2322576"/>
              <a:ext cx="234086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search() trả empty (mock emptyPage)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2880360" y="2322576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2880360" y="232257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3849624" y="2322576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3849624" y="232257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4818888" y="2322576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4818888" y="232257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788152" y="2322576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5788152" y="232257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757416" y="2322576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6757416" y="232257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7726680" y="2322576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7726680" y="232257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8695944" y="2322576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8695944" y="232257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20040" y="2670048"/>
              <a:ext cx="256032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429768" y="2670048"/>
              <a:ext cx="234086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filter param: name / number / place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2880360" y="2670048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2880360" y="2670048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3849624" y="2670048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3849624" y="2670048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18888" y="2670048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4" name="Text 62"/>
            <p:cNvSpPr/>
            <p:nvPr/>
          </p:nvSpPr>
          <p:spPr>
            <a:xfrm>
              <a:off x="4818888" y="2670048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5788152" y="2670048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6" name="Text 64"/>
            <p:cNvSpPr/>
            <p:nvPr/>
          </p:nvSpPr>
          <p:spPr>
            <a:xfrm>
              <a:off x="5788152" y="2670048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6757416" y="2670048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8" name="Text 66"/>
            <p:cNvSpPr/>
            <p:nvPr/>
          </p:nvSpPr>
          <p:spPr>
            <a:xfrm>
              <a:off x="6757416" y="2670048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7726680" y="2670048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7726680" y="2670048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8695944" y="2670048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8695944" y="2670048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20040" y="3017520"/>
              <a:ext cx="2560320" cy="347472"/>
            </a:xfrm>
            <a:prstGeom prst="rect">
              <a:avLst/>
            </a:prstGeom>
            <a:solidFill>
              <a:srgbClr val="F0FAF8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4" name="Text 72"/>
            <p:cNvSpPr/>
            <p:nvPr/>
          </p:nvSpPr>
          <p:spPr>
            <a:xfrm>
              <a:off x="429768" y="3017520"/>
              <a:ext cx="234086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sexDivision = "01" (C2)</a:t>
              </a:r>
              <a:endParaRPr lang="en-US" sz="10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2880360" y="3017520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6" name="Text 74"/>
            <p:cNvSpPr/>
            <p:nvPr/>
          </p:nvSpPr>
          <p:spPr>
            <a:xfrm>
              <a:off x="2880360" y="3017520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3849624" y="3017520"/>
              <a:ext cx="969264" cy="347472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8" name="Text 76"/>
            <p:cNvSpPr/>
            <p:nvPr/>
          </p:nvSpPr>
          <p:spPr>
            <a:xfrm>
              <a:off x="3849624" y="3017520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71C1C"/>
                  </a:solidFill>
                </a:rPr>
                <a:t>F</a:t>
              </a:r>
              <a:endParaRPr lang="en-US" sz="12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4818888" y="3017520"/>
              <a:ext cx="969264" cy="34747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0" name="Text 78"/>
            <p:cNvSpPr/>
            <p:nvPr/>
          </p:nvSpPr>
          <p:spPr>
            <a:xfrm>
              <a:off x="4818888" y="3017520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32"/>
                  </a:solidFill>
                </a:rPr>
                <a:t>T</a:t>
              </a:r>
              <a:endParaRPr lang="en-US" sz="12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5788152" y="3017520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5788152" y="3017520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6757416" y="3017520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4" name="Text 82"/>
            <p:cNvSpPr/>
            <p:nvPr/>
          </p:nvSpPr>
          <p:spPr>
            <a:xfrm>
              <a:off x="6757416" y="3017520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7726680" y="3017520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6" name="Text 84"/>
            <p:cNvSpPr/>
            <p:nvPr/>
          </p:nvSpPr>
          <p:spPr>
            <a:xfrm>
              <a:off x="7726680" y="3017520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8695944" y="3017520"/>
              <a:ext cx="969264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8695944" y="3017520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I</a:t>
              </a:r>
              <a:endParaRPr lang="en-US" sz="120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320040" y="3364992"/>
              <a:ext cx="9345168" cy="25603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D0D8E4"/>
              </a:solidFill>
              <a:prstDash val="solid"/>
            </a:ln>
          </p:spPr>
        </p:sp>
        <p:sp>
          <p:nvSpPr>
            <p:cNvPr id="90" name="Text 88"/>
            <p:cNvSpPr/>
            <p:nvPr/>
          </p:nvSpPr>
          <p:spPr>
            <a:xfrm>
              <a:off x="429768" y="3364992"/>
              <a:ext cx="828446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57F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EXPECTED RESULTS</a:t>
              </a:r>
              <a:endParaRPr lang="en-US" sz="100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320040" y="3621024"/>
              <a:ext cx="256032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2" name="Text 90"/>
            <p:cNvSpPr/>
            <p:nvPr/>
          </p:nvSpPr>
          <p:spPr>
            <a:xfrm>
              <a:off x="429768" y="3621024"/>
              <a:ext cx="234086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 200, JSON fields đúng</a:t>
              </a:r>
              <a:endParaRPr lang="en-US" sz="100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2880360" y="3621024"/>
              <a:ext cx="969264" cy="34747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4" name="Text 92"/>
            <p:cNvSpPr/>
            <p:nvPr/>
          </p:nvSpPr>
          <p:spPr>
            <a:xfrm>
              <a:off x="2880360" y="362102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F17"/>
                  </a:solidFill>
                </a:rPr>
                <a:t>E</a:t>
              </a:r>
              <a:endParaRPr lang="en-US" sz="120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3849624" y="3621024"/>
              <a:ext cx="969264" cy="34747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6" name="Text 94"/>
            <p:cNvSpPr/>
            <p:nvPr/>
          </p:nvSpPr>
          <p:spPr>
            <a:xfrm>
              <a:off x="3849624" y="362102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F17"/>
                  </a:solidFill>
                </a:rPr>
                <a:t>E</a:t>
              </a:r>
              <a:endParaRPr lang="en-US" sz="1200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4818888" y="3621024"/>
              <a:ext cx="969264" cy="34747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8" name="Text 96"/>
            <p:cNvSpPr/>
            <p:nvPr/>
          </p:nvSpPr>
          <p:spPr>
            <a:xfrm>
              <a:off x="4818888" y="362102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F17"/>
                  </a:solidFill>
                </a:rPr>
                <a:t>E</a:t>
              </a:r>
              <a:endParaRPr lang="en-US" sz="120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5788152" y="3621024"/>
              <a:ext cx="969264" cy="34747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0" name="Text 98"/>
            <p:cNvSpPr/>
            <p:nvPr/>
          </p:nvSpPr>
          <p:spPr>
            <a:xfrm>
              <a:off x="5788152" y="362102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F17"/>
                  </a:solidFill>
                </a:rPr>
                <a:t>E</a:t>
              </a:r>
              <a:endParaRPr lang="en-US" sz="120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6757416" y="3621024"/>
              <a:ext cx="969264" cy="34747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2" name="Text 100"/>
            <p:cNvSpPr/>
            <p:nvPr/>
          </p:nvSpPr>
          <p:spPr>
            <a:xfrm>
              <a:off x="6757416" y="362102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F17"/>
                  </a:solidFill>
                </a:rPr>
                <a:t>E</a:t>
              </a:r>
              <a:endParaRPr lang="en-US" sz="1200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7726680" y="3621024"/>
              <a:ext cx="969264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4" name="Text 102"/>
            <p:cNvSpPr/>
            <p:nvPr/>
          </p:nvSpPr>
          <p:spPr>
            <a:xfrm>
              <a:off x="7726680" y="362102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-</a:t>
              </a:r>
              <a:endParaRPr lang="en-US" sz="120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8695944" y="3621024"/>
              <a:ext cx="969264" cy="34747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6" name="Text 104"/>
            <p:cNvSpPr/>
            <p:nvPr/>
          </p:nvSpPr>
          <p:spPr>
            <a:xfrm>
              <a:off x="8695944" y="3621024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F17"/>
                  </a:solidFill>
                </a:rPr>
                <a:t>E</a:t>
              </a:r>
              <a:endParaRPr lang="en-US" sz="1200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320040" y="3968496"/>
              <a:ext cx="2560320" cy="347472"/>
            </a:xfrm>
            <a:prstGeom prst="rect">
              <a:avLst/>
            </a:prstGeom>
            <a:solidFill>
              <a:srgbClr val="F0FAF8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8" name="Text 106"/>
            <p:cNvSpPr/>
            <p:nvPr/>
          </p:nvSpPr>
          <p:spPr>
            <a:xfrm>
              <a:off x="429768" y="3968496"/>
              <a:ext cx="234086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 400 / header CSV</a:t>
              </a:r>
              <a:endParaRPr lang="en-US" sz="1000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2880360" y="3968496"/>
              <a:ext cx="969264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0" name="Text 108"/>
            <p:cNvSpPr/>
            <p:nvPr/>
          </p:nvSpPr>
          <p:spPr>
            <a:xfrm>
              <a:off x="2880360" y="396849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-</a:t>
              </a:r>
              <a:endParaRPr lang="en-US" sz="1200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3849624" y="3968496"/>
              <a:ext cx="969264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2" name="Text 110"/>
            <p:cNvSpPr/>
            <p:nvPr/>
          </p:nvSpPr>
          <p:spPr>
            <a:xfrm>
              <a:off x="3849624" y="396849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-</a:t>
              </a:r>
              <a:endParaRPr lang="en-US" sz="1200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4818888" y="3968496"/>
              <a:ext cx="969264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4" name="Text 112"/>
            <p:cNvSpPr/>
            <p:nvPr/>
          </p:nvSpPr>
          <p:spPr>
            <a:xfrm>
              <a:off x="4818888" y="396849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-</a:t>
              </a:r>
              <a:endParaRPr lang="en-US" sz="120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5788152" y="3968496"/>
              <a:ext cx="969264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5788152" y="396849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-</a:t>
              </a:r>
              <a:endParaRPr lang="en-US" sz="12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757416" y="3968496"/>
              <a:ext cx="969264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8" name="Text 116"/>
            <p:cNvSpPr/>
            <p:nvPr/>
          </p:nvSpPr>
          <p:spPr>
            <a:xfrm>
              <a:off x="6757416" y="396849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-</a:t>
              </a:r>
              <a:endParaRPr lang="en-US" sz="1200" dirty="0"/>
            </a:p>
          </p:txBody>
        </p:sp>
        <p:sp>
          <p:nvSpPr>
            <p:cNvPr id="119" name="Shape 117"/>
            <p:cNvSpPr/>
            <p:nvPr/>
          </p:nvSpPr>
          <p:spPr>
            <a:xfrm>
              <a:off x="7726680" y="3968496"/>
              <a:ext cx="969264" cy="347472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20" name="Text 118"/>
            <p:cNvSpPr/>
            <p:nvPr/>
          </p:nvSpPr>
          <p:spPr>
            <a:xfrm>
              <a:off x="7726680" y="396849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F17"/>
                  </a:solidFill>
                </a:rPr>
                <a:t>E</a:t>
              </a:r>
              <a:endParaRPr lang="en-US" sz="1200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8695944" y="3968496"/>
              <a:ext cx="969264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22" name="Text 120"/>
            <p:cNvSpPr/>
            <p:nvPr/>
          </p:nvSpPr>
          <p:spPr>
            <a:xfrm>
              <a:off x="8695944" y="3968496"/>
              <a:ext cx="9692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A8A8A"/>
                  </a:solidFill>
                </a:rPr>
                <a:t>-</a:t>
              </a:r>
              <a:endParaRPr lang="en-US" sz="1200" dirty="0"/>
            </a:p>
          </p:txBody>
        </p:sp>
      </p:grpSp>
      <p:sp>
        <p:nvSpPr>
          <p:cNvPr id="123" name="Shape 121"/>
          <p:cNvSpPr/>
          <p:nvPr/>
        </p:nvSpPr>
        <p:spPr>
          <a:xfrm>
            <a:off x="320040" y="4617720"/>
            <a:ext cx="329184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2004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T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704088" y="46451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2020824" y="4617720"/>
            <a:ext cx="329184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020824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</a:rPr>
              <a:t>F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2404872" y="46451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721608" y="4617720"/>
            <a:ext cx="329184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21608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8A8A"/>
                </a:solidFill>
              </a:rPr>
              <a:t>I</a:t>
            </a:r>
            <a:endParaRPr lang="en-US" sz="1100" dirty="0"/>
          </a:p>
        </p:txBody>
      </p:sp>
      <p:sp>
        <p:nvSpPr>
          <p:cNvPr id="131" name="Text 129"/>
          <p:cNvSpPr/>
          <p:nvPr/>
        </p:nvSpPr>
        <p:spPr>
          <a:xfrm>
            <a:off x="4105656" y="46451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5422392" y="4617720"/>
            <a:ext cx="329184" cy="329184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422392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7F17"/>
                </a:solidFill>
              </a:rPr>
              <a:t>E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5806440" y="46451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7123176" y="4617720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123176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8A8A"/>
                </a:solidFill>
              </a:rPr>
              <a:t>-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7507224" y="46451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CÁCH ĐIỀN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điền Decision Table — 5 bước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theo thứ tự này: boundary trước, TC sau — không làm ngược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9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F4F6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51790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tất cả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boundary condition từ slide trước = 1 hàng.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vào cột đầu tiên.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8503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249424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176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tên TC (cột)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45059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kịch bản cần test = 1 cột TC.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với happy path, sau đó edge case, exception.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8503920" cy="658368"/>
          </a:xfrm>
          <a:prstGeom prst="rect">
            <a:avLst/>
          </a:prstGeom>
          <a:solidFill>
            <a:srgbClr val="F4F6F8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980944"/>
            <a:ext cx="402336" cy="40233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 / F / I cho từng 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18211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điều kiện này đúng trong TC này.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sai. I = không liên quan đến TC này.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8503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712464"/>
            <a:ext cx="402336" cy="40233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639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hàng EXPECTED RESULTS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91363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các thứ cần assert sau khi gọi method.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E ở cột TC nào cần assert.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F4F6F8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" y="4443984"/>
            <a:ext cx="402336" cy="402336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370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đủ C0/C1/C2 chưa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64515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C0: mọi dòng được cover? C1: mọi nhánh T+F?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mọi sub-condition?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THỰC HÀNH B1+B2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hành: Bước 1+2 — Điền CONDITIONS và đặt TC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danh sách boundary từ slide 7 → điền vào cột đầu → đặt tên 8 cột TC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10 / 16</a:t>
            </a:r>
            <a:endParaRPr lang="en-US" sz="900" dirty="0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C831ED08-EEF1-A06B-4338-76C9F0782C3F}"/>
              </a:ext>
            </a:extLst>
          </p:cNvPr>
          <p:cNvGrpSpPr/>
          <p:nvPr/>
        </p:nvGrpSpPr>
        <p:grpSpPr>
          <a:xfrm>
            <a:off x="320040" y="1463040"/>
            <a:ext cx="8718705" cy="3419856"/>
            <a:chOff x="320040" y="1389888"/>
            <a:chExt cx="9043416" cy="3493008"/>
          </a:xfrm>
        </p:grpSpPr>
        <p:sp>
          <p:nvSpPr>
            <p:cNvPr id="7" name="Shape 5"/>
            <p:cNvSpPr/>
            <p:nvPr/>
          </p:nvSpPr>
          <p:spPr>
            <a:xfrm>
              <a:off x="320040" y="1389888"/>
              <a:ext cx="2606040" cy="310896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0040" y="1389888"/>
              <a:ext cx="26060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Điều kiện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1389888"/>
              <a:ext cx="804672" cy="310896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926080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TC_01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730752" y="1389888"/>
              <a:ext cx="804672" cy="310896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730752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TC_02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35424" y="1389888"/>
              <a:ext cx="804672" cy="310896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535424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TC_03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340096" y="1389888"/>
              <a:ext cx="804672" cy="310896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340096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TC_04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44768" y="1389888"/>
              <a:ext cx="804672" cy="310896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144768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TC_05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949440" y="1389888"/>
              <a:ext cx="804672" cy="310896"/>
            </a:xfrm>
            <a:prstGeom prst="rect">
              <a:avLst/>
            </a:prstGeom>
            <a:solidFill>
              <a:srgbClr val="BF360C"/>
            </a:solidFill>
            <a:ln w="12700">
              <a:solidFill>
                <a:srgbClr val="BF360C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949440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TC_06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754112" y="1389888"/>
              <a:ext cx="804672" cy="310896"/>
            </a:xfrm>
            <a:prstGeom prst="rect">
              <a:avLst/>
            </a:prstGeom>
            <a:solidFill>
              <a:srgbClr val="F57F17"/>
            </a:solidFill>
            <a:ln w="12700">
              <a:solidFill>
                <a:srgbClr val="F57F17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754112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TC_07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8558784" y="1389888"/>
              <a:ext cx="804672" cy="310896"/>
            </a:xfrm>
            <a:prstGeom prst="rect">
              <a:avLst/>
            </a:prstGeom>
            <a:solidFill>
              <a:srgbClr val="F57F17"/>
            </a:solidFill>
            <a:ln w="12700">
              <a:solidFill>
                <a:srgbClr val="F57F17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558784" y="1389888"/>
              <a:ext cx="80467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TC_08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1700784"/>
              <a:ext cx="9043416" cy="219456"/>
            </a:xfrm>
            <a:prstGeom prst="rect">
              <a:avLst/>
            </a:prstGeom>
            <a:solidFill>
              <a:srgbClr val="E0F7FA"/>
            </a:solidFill>
            <a:ln w="6350">
              <a:solidFill>
                <a:srgbClr val="D0D8E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11480" y="1700784"/>
              <a:ext cx="8860536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CONDITIONS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20040" y="1920240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11480" y="192024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Mock trả samplePage (có data)</a:t>
              </a:r>
              <a:endParaRPr lang="en-US" sz="9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926080" y="19202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2926080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730752" y="19202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3730752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535424" y="19202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4535424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5340096" y="19202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5340096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144768" y="19202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6144768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949440" y="19202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6949440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754112" y="19202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7754112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8558784" y="19202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8558784" y="19202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320040" y="2194560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411480" y="219456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Mock trả emptyPage (không có data)</a:t>
              </a:r>
              <a:endParaRPr lang="en-US" sz="9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2926080" y="21945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2926080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3730752" y="21945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3730752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4535424" y="21945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4535424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5340096" y="21945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5340096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6144768" y="21945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6144768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6949440" y="21945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6949440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7754112" y="21945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7754112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8558784" y="21945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8558784" y="21945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20040" y="2468880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4" name="Text 62"/>
            <p:cNvSpPr/>
            <p:nvPr/>
          </p:nvSpPr>
          <p:spPr>
            <a:xfrm>
              <a:off x="411480" y="246888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Filter: name param</a:t>
              </a:r>
              <a:endParaRPr lang="en-US" sz="95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2926080" y="246888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6" name="Text 64"/>
            <p:cNvSpPr/>
            <p:nvPr/>
          </p:nvSpPr>
          <p:spPr>
            <a:xfrm>
              <a:off x="2926080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3730752" y="246888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68" name="Text 66"/>
            <p:cNvSpPr/>
            <p:nvPr/>
          </p:nvSpPr>
          <p:spPr>
            <a:xfrm>
              <a:off x="3730752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4535424" y="246888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4535424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5340096" y="246888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5340096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6144768" y="246888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4" name="Text 72"/>
            <p:cNvSpPr/>
            <p:nvPr/>
          </p:nvSpPr>
          <p:spPr>
            <a:xfrm>
              <a:off x="6144768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6949440" y="246888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6" name="Text 74"/>
            <p:cNvSpPr/>
            <p:nvPr/>
          </p:nvSpPr>
          <p:spPr>
            <a:xfrm>
              <a:off x="6949440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7754112" y="246888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78" name="Text 76"/>
            <p:cNvSpPr/>
            <p:nvPr/>
          </p:nvSpPr>
          <p:spPr>
            <a:xfrm>
              <a:off x="7754112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8558784" y="246888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0" name="Text 78"/>
            <p:cNvSpPr/>
            <p:nvPr/>
          </p:nvSpPr>
          <p:spPr>
            <a:xfrm>
              <a:off x="8558784" y="246888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320040" y="2743200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411480" y="274320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Filter: insuranceNumber param</a:t>
              </a:r>
              <a:endParaRPr lang="en-US" sz="95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2926080" y="274320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4" name="Text 82"/>
            <p:cNvSpPr/>
            <p:nvPr/>
          </p:nvSpPr>
          <p:spPr>
            <a:xfrm>
              <a:off x="2926080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3730752" y="274320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6" name="Text 84"/>
            <p:cNvSpPr/>
            <p:nvPr/>
          </p:nvSpPr>
          <p:spPr>
            <a:xfrm>
              <a:off x="3730752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4535424" y="274320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4535424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5340096" y="274320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0" name="Text 88"/>
            <p:cNvSpPr/>
            <p:nvPr/>
          </p:nvSpPr>
          <p:spPr>
            <a:xfrm>
              <a:off x="5340096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6144768" y="274320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2" name="Text 90"/>
            <p:cNvSpPr/>
            <p:nvPr/>
          </p:nvSpPr>
          <p:spPr>
            <a:xfrm>
              <a:off x="6144768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949440" y="274320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4" name="Text 92"/>
            <p:cNvSpPr/>
            <p:nvPr/>
          </p:nvSpPr>
          <p:spPr>
            <a:xfrm>
              <a:off x="6949440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7754112" y="274320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6" name="Text 94"/>
            <p:cNvSpPr/>
            <p:nvPr/>
          </p:nvSpPr>
          <p:spPr>
            <a:xfrm>
              <a:off x="7754112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8558784" y="274320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98" name="Text 96"/>
            <p:cNvSpPr/>
            <p:nvPr/>
          </p:nvSpPr>
          <p:spPr>
            <a:xfrm>
              <a:off x="8558784" y="274320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320040" y="3017520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0" name="Text 98"/>
            <p:cNvSpPr/>
            <p:nvPr/>
          </p:nvSpPr>
          <p:spPr>
            <a:xfrm>
              <a:off x="411480" y="301752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Filter: place param</a:t>
              </a:r>
              <a:endParaRPr lang="en-US" sz="95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2926080" y="301752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2" name="Text 100"/>
            <p:cNvSpPr/>
            <p:nvPr/>
          </p:nvSpPr>
          <p:spPr>
            <a:xfrm>
              <a:off x="2926080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3730752" y="301752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4" name="Text 102"/>
            <p:cNvSpPr/>
            <p:nvPr/>
          </p:nvSpPr>
          <p:spPr>
            <a:xfrm>
              <a:off x="3730752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535424" y="301752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6" name="Text 104"/>
            <p:cNvSpPr/>
            <p:nvPr/>
          </p:nvSpPr>
          <p:spPr>
            <a:xfrm>
              <a:off x="4535424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5340096" y="301752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08" name="Text 106"/>
            <p:cNvSpPr/>
            <p:nvPr/>
          </p:nvSpPr>
          <p:spPr>
            <a:xfrm>
              <a:off x="5340096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6144768" y="301752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0" name="Text 108"/>
            <p:cNvSpPr/>
            <p:nvPr/>
          </p:nvSpPr>
          <p:spPr>
            <a:xfrm>
              <a:off x="6144768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6949440" y="301752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2" name="Text 110"/>
            <p:cNvSpPr/>
            <p:nvPr/>
          </p:nvSpPr>
          <p:spPr>
            <a:xfrm>
              <a:off x="6949440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7754112" y="301752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4" name="Text 112"/>
            <p:cNvSpPr/>
            <p:nvPr/>
          </p:nvSpPr>
          <p:spPr>
            <a:xfrm>
              <a:off x="7754112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8558784" y="301752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8558784" y="30175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320040" y="3291840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18" name="Text 116"/>
            <p:cNvSpPr/>
            <p:nvPr/>
          </p:nvSpPr>
          <p:spPr>
            <a:xfrm>
              <a:off x="411480" y="329184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Phân trang: page=1, pageSize=5</a:t>
              </a:r>
              <a:endParaRPr lang="en-US" sz="950" dirty="0"/>
            </a:p>
          </p:txBody>
        </p:sp>
        <p:sp>
          <p:nvSpPr>
            <p:cNvPr id="119" name="Shape 117"/>
            <p:cNvSpPr/>
            <p:nvPr/>
          </p:nvSpPr>
          <p:spPr>
            <a:xfrm>
              <a:off x="2926080" y="32918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20" name="Text 118"/>
            <p:cNvSpPr/>
            <p:nvPr/>
          </p:nvSpPr>
          <p:spPr>
            <a:xfrm>
              <a:off x="2926080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3730752" y="32918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22" name="Text 120"/>
            <p:cNvSpPr/>
            <p:nvPr/>
          </p:nvSpPr>
          <p:spPr>
            <a:xfrm>
              <a:off x="3730752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4535424" y="32918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24" name="Text 122"/>
            <p:cNvSpPr/>
            <p:nvPr/>
          </p:nvSpPr>
          <p:spPr>
            <a:xfrm>
              <a:off x="4535424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25" name="Shape 123"/>
            <p:cNvSpPr/>
            <p:nvPr/>
          </p:nvSpPr>
          <p:spPr>
            <a:xfrm>
              <a:off x="5340096" y="32918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26" name="Text 124"/>
            <p:cNvSpPr/>
            <p:nvPr/>
          </p:nvSpPr>
          <p:spPr>
            <a:xfrm>
              <a:off x="5340096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27" name="Shape 125"/>
            <p:cNvSpPr/>
            <p:nvPr/>
          </p:nvSpPr>
          <p:spPr>
            <a:xfrm>
              <a:off x="6144768" y="32918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28" name="Text 126"/>
            <p:cNvSpPr/>
            <p:nvPr/>
          </p:nvSpPr>
          <p:spPr>
            <a:xfrm>
              <a:off x="6144768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29" name="Shape 127"/>
            <p:cNvSpPr/>
            <p:nvPr/>
          </p:nvSpPr>
          <p:spPr>
            <a:xfrm>
              <a:off x="6949440" y="32918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30" name="Text 128"/>
            <p:cNvSpPr/>
            <p:nvPr/>
          </p:nvSpPr>
          <p:spPr>
            <a:xfrm>
              <a:off x="6949440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31" name="Shape 129"/>
            <p:cNvSpPr/>
            <p:nvPr/>
          </p:nvSpPr>
          <p:spPr>
            <a:xfrm>
              <a:off x="7754112" y="329184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32" name="Text 130"/>
            <p:cNvSpPr/>
            <p:nvPr/>
          </p:nvSpPr>
          <p:spPr>
            <a:xfrm>
              <a:off x="7754112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8558784" y="329184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34" name="Text 132"/>
            <p:cNvSpPr/>
            <p:nvPr/>
          </p:nvSpPr>
          <p:spPr>
            <a:xfrm>
              <a:off x="8558784" y="329184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35" name="Shape 133"/>
            <p:cNvSpPr/>
            <p:nvPr/>
          </p:nvSpPr>
          <p:spPr>
            <a:xfrm>
              <a:off x="320040" y="3566160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36" name="Text 134"/>
            <p:cNvSpPr/>
            <p:nvPr/>
          </p:nvSpPr>
          <p:spPr>
            <a:xfrm>
              <a:off x="411480" y="356616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Sort: sortDir=asc → ASC order (C2)</a:t>
              </a:r>
              <a:endParaRPr lang="en-US" sz="950" dirty="0"/>
            </a:p>
          </p:txBody>
        </p:sp>
        <p:sp>
          <p:nvSpPr>
            <p:cNvPr id="137" name="Shape 135"/>
            <p:cNvSpPr/>
            <p:nvPr/>
          </p:nvSpPr>
          <p:spPr>
            <a:xfrm>
              <a:off x="2926080" y="35661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38" name="Text 136"/>
            <p:cNvSpPr/>
            <p:nvPr/>
          </p:nvSpPr>
          <p:spPr>
            <a:xfrm>
              <a:off x="2926080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39" name="Shape 137"/>
            <p:cNvSpPr/>
            <p:nvPr/>
          </p:nvSpPr>
          <p:spPr>
            <a:xfrm>
              <a:off x="3730752" y="35661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40" name="Text 138"/>
            <p:cNvSpPr/>
            <p:nvPr/>
          </p:nvSpPr>
          <p:spPr>
            <a:xfrm>
              <a:off x="3730752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41" name="Shape 139"/>
            <p:cNvSpPr/>
            <p:nvPr/>
          </p:nvSpPr>
          <p:spPr>
            <a:xfrm>
              <a:off x="4535424" y="35661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42" name="Text 140"/>
            <p:cNvSpPr/>
            <p:nvPr/>
          </p:nvSpPr>
          <p:spPr>
            <a:xfrm>
              <a:off x="4535424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43" name="Shape 141"/>
            <p:cNvSpPr/>
            <p:nvPr/>
          </p:nvSpPr>
          <p:spPr>
            <a:xfrm>
              <a:off x="5340096" y="35661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44" name="Text 142"/>
            <p:cNvSpPr/>
            <p:nvPr/>
          </p:nvSpPr>
          <p:spPr>
            <a:xfrm>
              <a:off x="5340096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45" name="Shape 143"/>
            <p:cNvSpPr/>
            <p:nvPr/>
          </p:nvSpPr>
          <p:spPr>
            <a:xfrm>
              <a:off x="6144768" y="35661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46" name="Text 144"/>
            <p:cNvSpPr/>
            <p:nvPr/>
          </p:nvSpPr>
          <p:spPr>
            <a:xfrm>
              <a:off x="6144768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47" name="Shape 145"/>
            <p:cNvSpPr/>
            <p:nvPr/>
          </p:nvSpPr>
          <p:spPr>
            <a:xfrm>
              <a:off x="6949440" y="35661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48" name="Text 146"/>
            <p:cNvSpPr/>
            <p:nvPr/>
          </p:nvSpPr>
          <p:spPr>
            <a:xfrm>
              <a:off x="6949440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49" name="Shape 147"/>
            <p:cNvSpPr/>
            <p:nvPr/>
          </p:nvSpPr>
          <p:spPr>
            <a:xfrm>
              <a:off x="7754112" y="3566160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50" name="Text 148"/>
            <p:cNvSpPr/>
            <p:nvPr/>
          </p:nvSpPr>
          <p:spPr>
            <a:xfrm>
              <a:off x="7754112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51" name="Shape 149"/>
            <p:cNvSpPr/>
            <p:nvPr/>
          </p:nvSpPr>
          <p:spPr>
            <a:xfrm>
              <a:off x="8558784" y="3566160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52" name="Text 150"/>
            <p:cNvSpPr/>
            <p:nvPr/>
          </p:nvSpPr>
          <p:spPr>
            <a:xfrm>
              <a:off x="8558784" y="356616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53" name="Shape 151"/>
            <p:cNvSpPr/>
            <p:nvPr/>
          </p:nvSpPr>
          <p:spPr>
            <a:xfrm>
              <a:off x="320040" y="3840480"/>
              <a:ext cx="9043416" cy="219456"/>
            </a:xfrm>
            <a:prstGeom prst="rect">
              <a:avLst/>
            </a:prstGeom>
            <a:solidFill>
              <a:srgbClr val="FFF8E1"/>
            </a:solidFill>
            <a:ln w="6350">
              <a:solidFill>
                <a:srgbClr val="D0D8E4"/>
              </a:solidFill>
              <a:prstDash val="solid"/>
            </a:ln>
          </p:spPr>
        </p:sp>
        <p:sp>
          <p:nvSpPr>
            <p:cNvPr id="154" name="Text 152"/>
            <p:cNvSpPr/>
            <p:nvPr/>
          </p:nvSpPr>
          <p:spPr>
            <a:xfrm>
              <a:off x="411480" y="3840480"/>
              <a:ext cx="8860536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57F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EXPECTED RESULTS</a:t>
              </a:r>
              <a:endParaRPr lang="en-US" sz="900" dirty="0"/>
            </a:p>
          </p:txBody>
        </p:sp>
        <p:sp>
          <p:nvSpPr>
            <p:cNvPr id="155" name="Shape 153"/>
            <p:cNvSpPr/>
            <p:nvPr/>
          </p:nvSpPr>
          <p:spPr>
            <a:xfrm>
              <a:off x="320040" y="4059936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56" name="Text 154"/>
            <p:cNvSpPr/>
            <p:nvPr/>
          </p:nvSpPr>
          <p:spPr>
            <a:xfrm>
              <a:off x="411480" y="4059936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 200 + JSON đúng</a:t>
              </a:r>
              <a:endParaRPr lang="en-US" sz="950" dirty="0"/>
            </a:p>
          </p:txBody>
        </p:sp>
        <p:sp>
          <p:nvSpPr>
            <p:cNvPr id="157" name="Shape 155"/>
            <p:cNvSpPr/>
            <p:nvPr/>
          </p:nvSpPr>
          <p:spPr>
            <a:xfrm>
              <a:off x="2926080" y="405993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58" name="Text 156"/>
            <p:cNvSpPr/>
            <p:nvPr/>
          </p:nvSpPr>
          <p:spPr>
            <a:xfrm>
              <a:off x="2926080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59" name="Shape 157"/>
            <p:cNvSpPr/>
            <p:nvPr/>
          </p:nvSpPr>
          <p:spPr>
            <a:xfrm>
              <a:off x="3730752" y="405993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60" name="Text 158"/>
            <p:cNvSpPr/>
            <p:nvPr/>
          </p:nvSpPr>
          <p:spPr>
            <a:xfrm>
              <a:off x="3730752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61" name="Shape 159"/>
            <p:cNvSpPr/>
            <p:nvPr/>
          </p:nvSpPr>
          <p:spPr>
            <a:xfrm>
              <a:off x="4535424" y="405993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62" name="Text 160"/>
            <p:cNvSpPr/>
            <p:nvPr/>
          </p:nvSpPr>
          <p:spPr>
            <a:xfrm>
              <a:off x="4535424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63" name="Shape 161"/>
            <p:cNvSpPr/>
            <p:nvPr/>
          </p:nvSpPr>
          <p:spPr>
            <a:xfrm>
              <a:off x="5340096" y="405993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64" name="Text 162"/>
            <p:cNvSpPr/>
            <p:nvPr/>
          </p:nvSpPr>
          <p:spPr>
            <a:xfrm>
              <a:off x="5340096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65" name="Shape 163"/>
            <p:cNvSpPr/>
            <p:nvPr/>
          </p:nvSpPr>
          <p:spPr>
            <a:xfrm>
              <a:off x="6144768" y="405993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66" name="Text 164"/>
            <p:cNvSpPr/>
            <p:nvPr/>
          </p:nvSpPr>
          <p:spPr>
            <a:xfrm>
              <a:off x="6144768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67" name="Shape 165"/>
            <p:cNvSpPr/>
            <p:nvPr/>
          </p:nvSpPr>
          <p:spPr>
            <a:xfrm>
              <a:off x="6949440" y="405993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68" name="Text 166"/>
            <p:cNvSpPr/>
            <p:nvPr/>
          </p:nvSpPr>
          <p:spPr>
            <a:xfrm>
              <a:off x="6949440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69" name="Shape 167"/>
            <p:cNvSpPr/>
            <p:nvPr/>
          </p:nvSpPr>
          <p:spPr>
            <a:xfrm>
              <a:off x="7754112" y="405993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70" name="Text 168"/>
            <p:cNvSpPr/>
            <p:nvPr/>
          </p:nvSpPr>
          <p:spPr>
            <a:xfrm>
              <a:off x="7754112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71" name="Shape 169"/>
            <p:cNvSpPr/>
            <p:nvPr/>
          </p:nvSpPr>
          <p:spPr>
            <a:xfrm>
              <a:off x="8558784" y="405993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72" name="Text 170"/>
            <p:cNvSpPr/>
            <p:nvPr/>
          </p:nvSpPr>
          <p:spPr>
            <a:xfrm>
              <a:off x="8558784" y="405993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73" name="Shape 171"/>
            <p:cNvSpPr/>
            <p:nvPr/>
          </p:nvSpPr>
          <p:spPr>
            <a:xfrm>
              <a:off x="320040" y="4334256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74" name="Text 172"/>
            <p:cNvSpPr/>
            <p:nvPr/>
          </p:nvSpPr>
          <p:spPr>
            <a:xfrm>
              <a:off x="411480" y="4334256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 400 (export empty)</a:t>
              </a:r>
              <a:endParaRPr lang="en-US" sz="950" dirty="0"/>
            </a:p>
          </p:txBody>
        </p:sp>
        <p:sp>
          <p:nvSpPr>
            <p:cNvPr id="175" name="Shape 173"/>
            <p:cNvSpPr/>
            <p:nvPr/>
          </p:nvSpPr>
          <p:spPr>
            <a:xfrm>
              <a:off x="2926080" y="433425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76" name="Text 174"/>
            <p:cNvSpPr/>
            <p:nvPr/>
          </p:nvSpPr>
          <p:spPr>
            <a:xfrm>
              <a:off x="2926080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77" name="Shape 175"/>
            <p:cNvSpPr/>
            <p:nvPr/>
          </p:nvSpPr>
          <p:spPr>
            <a:xfrm>
              <a:off x="3730752" y="433425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78" name="Text 176"/>
            <p:cNvSpPr/>
            <p:nvPr/>
          </p:nvSpPr>
          <p:spPr>
            <a:xfrm>
              <a:off x="3730752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79" name="Shape 177"/>
            <p:cNvSpPr/>
            <p:nvPr/>
          </p:nvSpPr>
          <p:spPr>
            <a:xfrm>
              <a:off x="4535424" y="433425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80" name="Text 178"/>
            <p:cNvSpPr/>
            <p:nvPr/>
          </p:nvSpPr>
          <p:spPr>
            <a:xfrm>
              <a:off x="4535424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81" name="Shape 179"/>
            <p:cNvSpPr/>
            <p:nvPr/>
          </p:nvSpPr>
          <p:spPr>
            <a:xfrm>
              <a:off x="5340096" y="433425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82" name="Text 180"/>
            <p:cNvSpPr/>
            <p:nvPr/>
          </p:nvSpPr>
          <p:spPr>
            <a:xfrm>
              <a:off x="5340096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83" name="Shape 181"/>
            <p:cNvSpPr/>
            <p:nvPr/>
          </p:nvSpPr>
          <p:spPr>
            <a:xfrm>
              <a:off x="6144768" y="433425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84" name="Text 182"/>
            <p:cNvSpPr/>
            <p:nvPr/>
          </p:nvSpPr>
          <p:spPr>
            <a:xfrm>
              <a:off x="6144768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85" name="Shape 183"/>
            <p:cNvSpPr/>
            <p:nvPr/>
          </p:nvSpPr>
          <p:spPr>
            <a:xfrm>
              <a:off x="6949440" y="433425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86" name="Text 184"/>
            <p:cNvSpPr/>
            <p:nvPr/>
          </p:nvSpPr>
          <p:spPr>
            <a:xfrm>
              <a:off x="6949440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87" name="Shape 185"/>
            <p:cNvSpPr/>
            <p:nvPr/>
          </p:nvSpPr>
          <p:spPr>
            <a:xfrm>
              <a:off x="7754112" y="433425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88" name="Text 186"/>
            <p:cNvSpPr/>
            <p:nvPr/>
          </p:nvSpPr>
          <p:spPr>
            <a:xfrm>
              <a:off x="7754112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89" name="Shape 187"/>
            <p:cNvSpPr/>
            <p:nvPr/>
          </p:nvSpPr>
          <p:spPr>
            <a:xfrm>
              <a:off x="8558784" y="433425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90" name="Text 188"/>
            <p:cNvSpPr/>
            <p:nvPr/>
          </p:nvSpPr>
          <p:spPr>
            <a:xfrm>
              <a:off x="8558784" y="43342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91" name="Shape 189"/>
            <p:cNvSpPr/>
            <p:nvPr/>
          </p:nvSpPr>
          <p:spPr>
            <a:xfrm>
              <a:off x="320040" y="4608576"/>
              <a:ext cx="26060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92" name="Text 190"/>
            <p:cNvSpPr/>
            <p:nvPr/>
          </p:nvSpPr>
          <p:spPr>
            <a:xfrm>
              <a:off x="411480" y="4608576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Header CSV / status OK</a:t>
              </a:r>
              <a:endParaRPr lang="en-US" sz="950" dirty="0"/>
            </a:p>
          </p:txBody>
        </p:sp>
        <p:sp>
          <p:nvSpPr>
            <p:cNvPr id="193" name="Shape 191"/>
            <p:cNvSpPr/>
            <p:nvPr/>
          </p:nvSpPr>
          <p:spPr>
            <a:xfrm>
              <a:off x="2926080" y="460857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94" name="Text 192"/>
            <p:cNvSpPr/>
            <p:nvPr/>
          </p:nvSpPr>
          <p:spPr>
            <a:xfrm>
              <a:off x="2926080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95" name="Shape 193"/>
            <p:cNvSpPr/>
            <p:nvPr/>
          </p:nvSpPr>
          <p:spPr>
            <a:xfrm>
              <a:off x="3730752" y="460857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96" name="Text 194"/>
            <p:cNvSpPr/>
            <p:nvPr/>
          </p:nvSpPr>
          <p:spPr>
            <a:xfrm>
              <a:off x="3730752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97" name="Shape 195"/>
            <p:cNvSpPr/>
            <p:nvPr/>
          </p:nvSpPr>
          <p:spPr>
            <a:xfrm>
              <a:off x="4535424" y="460857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198" name="Text 196"/>
            <p:cNvSpPr/>
            <p:nvPr/>
          </p:nvSpPr>
          <p:spPr>
            <a:xfrm>
              <a:off x="4535424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199" name="Shape 197"/>
            <p:cNvSpPr/>
            <p:nvPr/>
          </p:nvSpPr>
          <p:spPr>
            <a:xfrm>
              <a:off x="5340096" y="460857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00" name="Text 198"/>
            <p:cNvSpPr/>
            <p:nvPr/>
          </p:nvSpPr>
          <p:spPr>
            <a:xfrm>
              <a:off x="5340096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201" name="Shape 199"/>
            <p:cNvSpPr/>
            <p:nvPr/>
          </p:nvSpPr>
          <p:spPr>
            <a:xfrm>
              <a:off x="6144768" y="460857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02" name="Text 200"/>
            <p:cNvSpPr/>
            <p:nvPr/>
          </p:nvSpPr>
          <p:spPr>
            <a:xfrm>
              <a:off x="6144768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203" name="Shape 201"/>
            <p:cNvSpPr/>
            <p:nvPr/>
          </p:nvSpPr>
          <p:spPr>
            <a:xfrm>
              <a:off x="6949440" y="460857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04" name="Text 202"/>
            <p:cNvSpPr/>
            <p:nvPr/>
          </p:nvSpPr>
          <p:spPr>
            <a:xfrm>
              <a:off x="6949440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205" name="Shape 203"/>
            <p:cNvSpPr/>
            <p:nvPr/>
          </p:nvSpPr>
          <p:spPr>
            <a:xfrm>
              <a:off x="7754112" y="4608576"/>
              <a:ext cx="804672" cy="274320"/>
            </a:xfrm>
            <a:prstGeom prst="rect">
              <a:avLst/>
            </a:prstGeom>
            <a:solidFill>
              <a:srgbClr val="F8FAFB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06" name="Text 204"/>
            <p:cNvSpPr/>
            <p:nvPr/>
          </p:nvSpPr>
          <p:spPr>
            <a:xfrm>
              <a:off x="7754112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  <p:sp>
          <p:nvSpPr>
            <p:cNvPr id="207" name="Shape 205"/>
            <p:cNvSpPr/>
            <p:nvPr/>
          </p:nvSpPr>
          <p:spPr>
            <a:xfrm>
              <a:off x="8558784" y="4608576"/>
              <a:ext cx="804672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  <a:prstDash val="solid"/>
            </a:ln>
          </p:spPr>
        </p:sp>
        <p:sp>
          <p:nvSpPr>
            <p:cNvPr id="208" name="Text 206"/>
            <p:cNvSpPr/>
            <p:nvPr/>
          </p:nvSpPr>
          <p:spPr>
            <a:xfrm>
              <a:off x="8558784" y="460857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</a:rPr>
                <a:t>?</a:t>
              </a:r>
              <a:endParaRPr lang="en-US" sz="1000" dirty="0"/>
            </a:p>
          </p:txBody>
        </p:sp>
      </p:grpSp>
      <p:sp>
        <p:nvSpPr>
          <p:cNvPr id="209" name="Text 207"/>
          <p:cNvSpPr/>
          <p:nvPr/>
        </p:nvSpPr>
        <p:spPr>
          <a:xfrm>
            <a:off x="845820" y="4869180"/>
            <a:ext cx="74171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Bước tiếp theo: điền T / F / I vào từng ô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THỰC HÀNH B3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hành: Bước 3 — Điền T / F / 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mỗi TC (cột): đọc kịch bản → điều kiện này có thỏa mãn không? T/F/I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11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3200400" cy="3456432"/>
          </a:xfrm>
          <a:prstGeom prst="rect">
            <a:avLst/>
          </a:prstGeom>
          <a:solidFill>
            <a:srgbClr val="F4F6F8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32004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dùng T / F / I?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92224"/>
            <a:ext cx="2999232" cy="868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92224"/>
            <a:ext cx="36576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92224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" y="184708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này ĐẠT / ĐÚNG trong TC này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" y="223113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TC_01: mock samplePage → search() trả data → 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2999232" cy="868680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98064"/>
            <a:ext cx="365760" cy="8686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98064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" y="28529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này KHÔNG ĐẠT trong TC này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0392" y="323697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TC_09: mock samplePage → export CSV có data → F cho "emptyPage"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03904"/>
            <a:ext cx="2999232" cy="868680"/>
          </a:xfrm>
          <a:prstGeom prst="rect">
            <a:avLst/>
          </a:prstGeom>
          <a:solidFill>
            <a:srgbClr val="F5F5F5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803904"/>
            <a:ext cx="365760" cy="86868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03904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" y="385876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này KHÔNG ẢNH HƯỞNG đến TC này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0392" y="424281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r>
              <a:rPr lang="en-US" sz="1000" i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_09: Search→ </a:t>
            </a: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sortDir không liên quan → 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39312" y="1389888"/>
            <a:ext cx="228600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25312" y="1389888"/>
            <a:ext cx="8046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25312" y="13898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9984" y="1389888"/>
            <a:ext cx="8046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13898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34656" y="1389888"/>
            <a:ext cx="804672" cy="2926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4656" y="13898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39328" y="1389888"/>
            <a:ext cx="804672" cy="2926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13898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1682496"/>
            <a:ext cx="5504688" cy="237744"/>
          </a:xfrm>
          <a:prstGeom prst="rect">
            <a:avLst/>
          </a:prstGeom>
          <a:solidFill>
            <a:srgbClr val="E0F7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0752" y="1682496"/>
            <a:ext cx="5504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CONDITIONS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39312" y="1920240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19202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samplePage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25312" y="1920240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19202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29984" y="1920240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19202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34656" y="1920240"/>
            <a:ext cx="804672" cy="329184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34656" y="19202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</a:rPr>
              <a:t>F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39328" y="1920240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9328" y="19202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39312" y="2249424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30752" y="224942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trả data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25312" y="2249424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25312" y="224942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729984" y="2249424"/>
            <a:ext cx="804672" cy="329184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9984" y="224942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</a:rPr>
              <a:t>F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534656" y="2249424"/>
            <a:ext cx="80467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34656" y="224942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</a:rPr>
              <a:t>I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39328" y="2249424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39328" y="224942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39312" y="2578608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30752" y="2578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trả empty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25312" y="2578608"/>
            <a:ext cx="804672" cy="329184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5312" y="25786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</a:rPr>
              <a:t>F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729984" y="2578608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29984" y="25786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534656" y="2578608"/>
            <a:ext cx="80467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34656" y="25786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</a:rPr>
              <a:t>I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339328" y="2578608"/>
            <a:ext cx="804672" cy="329184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39328" y="25786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</a:rPr>
              <a:t>F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639312" y="2907792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0752" y="290779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emptyPage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925312" y="2907792"/>
            <a:ext cx="804672" cy="329184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25312" y="290779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</a:rPr>
              <a:t>F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729984" y="2907792"/>
            <a:ext cx="804672" cy="329184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29984" y="290779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</a:rPr>
              <a:t>F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534656" y="2907792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34656" y="290779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339328" y="2907792"/>
            <a:ext cx="804672" cy="329184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39328" y="290779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</a:rPr>
              <a:t>F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639312" y="3236976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30752" y="32369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sortDir=asc (C2)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925312" y="3236976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25312" y="323697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729984" y="3236976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29984" y="323697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534656" y="3236976"/>
            <a:ext cx="80467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34656" y="323697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</a:rPr>
              <a:t>I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339328" y="3236976"/>
            <a:ext cx="8046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39328" y="323697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639312" y="3566160"/>
            <a:ext cx="5504688" cy="237744"/>
          </a:xfrm>
          <a:prstGeom prst="rect">
            <a:avLst/>
          </a:prstGeom>
          <a:solidFill>
            <a:srgbClr val="FFF8E1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30752" y="3566160"/>
            <a:ext cx="5504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</a:rPr>
              <a:t>EXPECTED RESULTS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639312" y="3803904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30752" y="38039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+ fields đúng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925312" y="3803904"/>
            <a:ext cx="804672" cy="329184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25312" y="380390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F17"/>
                </a:solidFill>
              </a:rPr>
              <a:t>E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729984" y="3803904"/>
            <a:ext cx="804672" cy="329184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29984" y="380390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F17"/>
                </a:solidFill>
              </a:rPr>
              <a:t>E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534656" y="3803904"/>
            <a:ext cx="8046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34656" y="380390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</a:rPr>
              <a:t>-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339328" y="3803904"/>
            <a:ext cx="804672" cy="329184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339328" y="380390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F17"/>
                </a:solidFill>
              </a:rPr>
              <a:t>E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3639312" y="4133088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730752" y="41330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400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925312" y="4133088"/>
            <a:ext cx="8046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925312" y="413308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</a:rPr>
              <a:t>-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6729984" y="4133088"/>
            <a:ext cx="8046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29984" y="413308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</a:rPr>
              <a:t>-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7534656" y="4133088"/>
            <a:ext cx="804672" cy="329184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534656" y="413308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F17"/>
                </a:solidFill>
              </a:rPr>
              <a:t>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339328" y="4133088"/>
            <a:ext cx="8046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39328" y="413308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</a:rPr>
              <a:t>-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THỰC HÀNH B4+B5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4+5 — Expected Results &amp; Kiểm tra Coverage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có T/F/I: thêm hàng E (assert gì?) và tự check C0/C1/C2 đã đủ chưa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603248"/>
            <a:ext cx="4160520" cy="2823972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3248"/>
            <a:ext cx="416052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32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 — Thêm EXPECTED RESULTS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50720"/>
            <a:ext cx="3886200" cy="2392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mỗi TC, liệt kê các field cần assert sau khi gọi method: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mockMvc</a:t>
            </a:r>
            <a:r>
              <a:rPr lang="en-US" sz="10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.perform (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get("/api/insurances").param("companyId","1"))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.andExpect(status().isOk())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assertThat(result.getContent().get(0).</a:t>
            </a:r>
            <a:r>
              <a:rPr lang="en-US" sz="10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getInsuranceNumber()) .isEqualTo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("1234567890")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assertThat(result.getContent().get(0).</a:t>
            </a:r>
            <a:r>
              <a:rPr lang="en-US" sz="10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getGenderLabel()) .isEqualTo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("Nam")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assertThatThrownBy(() -&gt; service.getById(</a:t>
            </a:r>
            <a:r>
              <a:rPr lang="en-US" sz="10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99)) .isInstanceOf(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ResourceNotFoundException.class)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603248"/>
            <a:ext cx="4206240" cy="2823972"/>
          </a:xfrm>
          <a:prstGeom prst="rect">
            <a:avLst/>
          </a:prstGeom>
          <a:solidFill>
            <a:srgbClr val="F4F6F8"/>
          </a:solidFill>
          <a:ln w="2540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603248"/>
            <a:ext cx="420624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603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 — Tự kiểm tra Coverage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987296"/>
            <a:ext cx="4005072" cy="4953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9872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C0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0421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Có TC cover try và catch 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57216" y="2023872"/>
            <a:ext cx="1389888" cy="400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dòng trong InsuranceController được chạy?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689860"/>
            <a:ext cx="4005072" cy="483108"/>
          </a:xfrm>
          <a:prstGeom prst="rect">
            <a:avLst/>
          </a:prstGeom>
          <a:solidFill>
            <a:srgbClr val="E8F5E9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898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</a:rPr>
              <a:t>C1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7447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TC_01~05 cover search/filter/empty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57216" y="2726436"/>
            <a:ext cx="14950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nhánh if/else (sortDir, emptyData) có T+F?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438144"/>
            <a:ext cx="4005072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381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360C"/>
                </a:solidFill>
              </a:rPr>
              <a:t>C2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34930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TC_07+08 cover sortDir ASC vs DESC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57216" y="347472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genderLabel "Nam" và "Nữ" đủ T/F?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3571A-F8A1-FA4D-C0A1-224BDA1A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14068C-4FE8-3FE1-ED32-8A9A3171003B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576734-13C7-63BA-44D9-55386D1BE31E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THỰC HÀNH B4+B5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E9295A-5CF3-FCFE-A876-D237858E2530}"/>
              </a:ext>
            </a:extLst>
          </p:cNvPr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4+5 — Expected Results &amp; Kiểm tra Coverage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75FB11-5DFE-1CE6-3CB0-8DE4F78EA9EF}"/>
              </a:ext>
            </a:extLst>
          </p:cNvPr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có T/F/I: thêm hàng E (assert gì?) và tự check C0/C1/C2 đã đủ chưa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3F025F-1C98-D059-9C10-133C0F22C789}"/>
              </a:ext>
            </a:extLst>
          </p:cNvPr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12 / 16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590AE8-B1B4-8FA6-1D49-1A23CA9BD2C2}"/>
              </a:ext>
            </a:extLst>
          </p:cNvPr>
          <p:cNvSpPr/>
          <p:nvPr/>
        </p:nvSpPr>
        <p:spPr>
          <a:xfrm>
            <a:off x="320040" y="1439164"/>
            <a:ext cx="8503920" cy="3407156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75BD4D3-468E-C084-96C0-750E8B5D4DDF}"/>
              </a:ext>
            </a:extLst>
          </p:cNvPr>
          <p:cNvSpPr/>
          <p:nvPr/>
        </p:nvSpPr>
        <p:spPr>
          <a:xfrm>
            <a:off x="320040" y="1439164"/>
            <a:ext cx="85039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9186298-CE51-4D5B-E057-067D8218AE84}"/>
              </a:ext>
            </a:extLst>
          </p:cNvPr>
          <p:cNvSpPr/>
          <p:nvPr/>
        </p:nvSpPr>
        <p:spPr>
          <a:xfrm>
            <a:off x="320040" y="143916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Kết quả: Danh sách TC hoàn chỉnh từ Decision Table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472BC6F-E84A-A613-5857-8D300905DC3D}"/>
              </a:ext>
            </a:extLst>
          </p:cNvPr>
          <p:cNvSpPr/>
          <p:nvPr/>
        </p:nvSpPr>
        <p:spPr>
          <a:xfrm>
            <a:off x="502920" y="17957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</a:t>
            </a:r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should_Return200WithList_when_DataExists ()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data → assertThat(result.getTotalElements()).isEqualTo(1L), fields đúng</a:t>
            </a: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6DF4322-1D07-15A7-D8EF-20E46CD8DA77}"/>
              </a:ext>
            </a:extLst>
          </p:cNvPr>
          <p:cNvSpPr/>
          <p:nvPr/>
        </p:nvSpPr>
        <p:spPr>
          <a:xfrm>
            <a:off x="502920" y="20701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</a:t>
            </a:r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should_Return200EmptyList_when_NoData ()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→ assertThat(result.getContent()).isEmpty()</a:t>
            </a:r>
            <a:endParaRPr lang="en-US" sz="9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BB5D7D5-8CD3-6D71-3796-0BF27F838608}"/>
              </a:ext>
            </a:extLst>
          </p:cNvPr>
          <p:cNvSpPr/>
          <p:nvPr/>
        </p:nvSpPr>
        <p:spPr>
          <a:xfrm>
            <a:off x="502920" y="23444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</a:t>
            </a:r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should_FilterByName_when_NameParamProvided ()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assertThat(result.getInsuranceNumber()).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isEqualTo("Nguyen Van A")</a:t>
            </a: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548C15C-606F-5E86-E13E-EBE1FDB89B3C}"/>
              </a:ext>
            </a:extLst>
          </p:cNvPr>
          <p:cNvSpPr/>
          <p:nvPr/>
        </p:nvSpPr>
        <p:spPr>
          <a:xfrm>
            <a:off x="502920" y="26187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</a:t>
            </a:r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should_FilterByInsuranceNumber_when_Provided ()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assertThat(result.getInsuranceNumber()).isEqualTo("1234567890")</a:t>
            </a:r>
            <a:endParaRPr lang="en-US" sz="9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73B18DB-86F9-7E16-8BA7-BC922F7B139C}"/>
              </a:ext>
            </a:extLst>
          </p:cNvPr>
          <p:cNvSpPr/>
          <p:nvPr/>
        </p:nvSpPr>
        <p:spPr>
          <a:xfrm>
            <a:off x="502920" y="28930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</a:t>
            </a:r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should_FilterByPlace_when_PlaceParamProvided ()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verify(userRepository, times(1)).delete(mockUser)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A62520F-4F4C-D4F5-0B5D-92E2E1AE1ABD}"/>
              </a:ext>
            </a:extLst>
          </p:cNvPr>
          <p:cNvSpPr/>
          <p:nvPr/>
        </p:nvSpPr>
        <p:spPr>
          <a:xfrm>
            <a:off x="502920" y="31673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</a:t>
            </a:r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should_ReturnPage0With5Records_when_Paginated ()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→ verify(userRepository, never()).delete(any())</a:t>
            </a:r>
            <a:endParaRPr lang="en-US" sz="95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0BE0116-39E5-CACA-A707-BB1ED890802D}"/>
              </a:ext>
            </a:extLst>
          </p:cNvPr>
          <p:cNvSpPr/>
          <p:nvPr/>
        </p:nvSpPr>
        <p:spPr>
          <a:xfrm>
            <a:off x="502920" y="34417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TC_07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should_ReturnAscOrder_when_SortASC () → content[0]=“Nguyen Van A", content[1]=“Tran Van B"</a:t>
            </a: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042FA59-A8A7-1FBE-747C-023CA5478564}"/>
              </a:ext>
            </a:extLst>
          </p:cNvPr>
          <p:cNvSpPr/>
          <p:nvPr/>
        </p:nvSpPr>
        <p:spPr>
          <a:xfrm>
            <a:off x="502920" y="3917696"/>
            <a:ext cx="8229600" cy="623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_09 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should_ReturnCsvFile_when_DataExists → status 200, header Content-Disposition contains "insurance_list.csv"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TC_10 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should_Return400_when_EmptyDataExportCsv → status 400, body.status=400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TC_11  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should_Return200Companies_when_Called → status 200, authenticated user access OK</a:t>
            </a:r>
            <a:endParaRPr lang="en-US" sz="95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56FB70AD-0524-0060-A94D-AA599E20A584}"/>
              </a:ext>
            </a:extLst>
          </p:cNvPr>
          <p:cNvSpPr/>
          <p:nvPr/>
        </p:nvSpPr>
        <p:spPr>
          <a:xfrm>
            <a:off x="502920" y="36616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TC_08  </a:t>
            </a:r>
            <a:r>
              <a:rPr lang="en-US" sz="9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should_ReturnDescOrder_when_SortDESC → content[0]="Tran Van B", content[1]="Nguyen Van A"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9396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KẾT NỐI EXCEL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Decision Table → Điền vào Excel Template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xong → mỗi cột TC = 1 dòng trong sheet [DS Test Case]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3474720" cy="3159252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3474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(cột TC_01)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
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Mock=samplePage=T, status200=T, emptyData=F, sortASC=F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
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200, content[0].insuranceNumber="1234567890", totalElements=1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13632" y="2651760"/>
            <a:ext cx="1005840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2487168"/>
            <a:ext cx="27432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28346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1-1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389888"/>
            <a:ext cx="3703320" cy="315925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1389888"/>
            <a:ext cx="37033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3898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Test Case (dòng TC_01)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66944" y="177393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ID: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66944" y="2121408"/>
            <a:ext cx="3383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215798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test: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search() — Happy Path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66944" y="2505456"/>
            <a:ext cx="3383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254203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 trả về mockUser với insuranceNumber="1234567890"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66944" y="2889504"/>
            <a:ext cx="3383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292608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insuranceService.search(1, "", "", "", pageable)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66944" y="3273552"/>
            <a:ext cx="3383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6944" y="3310128"/>
            <a:ext cx="3401568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andExpect(status().isOk()) andExpect(jsonPath("$.data.content[0].insuranceNumber").value("1234567890"))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66944" y="3741420"/>
            <a:ext cx="3383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374751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ID: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66944" y="4094988"/>
            <a:ext cx="3383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413156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jsonPath assertions — không dùng assertEquals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Mỗi cột trong Decision Table = 1 dòng TC trong Excel. Given/When/Then lấy từ CONDITIONS + EXPECTED RESULTS.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SAI LẦM PHỔ BIẾN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Sai lầm thường gặp khi thiết kế TC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từ lỗi người khác — tránh mất thời gian fix lại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4447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test happy path, bỏ qua exception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TC_09 (export CSV có data) và TC_10 (empty) → bắt buộc test cả 2 nhánh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1762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 cho tất cả ô, không có 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không có F: sortDir DESC chưa test → C1 fail. Dùng MockMvc jsonPath, không assertEquals()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0779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TC test quá nhiều kịch bản cùng lúc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TC_01 chỉ test search có data, TC_02 chỉ test empty — không gộp chung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58444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36393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các edge case: list rỗng, null, blank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9319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emptyPage, sortDir=asc/desc, export CSV — mỗi cái là 1 TC riêng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43708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TC dựa trên code, không dựa </a:t>
            </a:r>
            <a:r>
              <a:rPr lang="en-US" sz="110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design detail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6634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</a:t>
            </a:r>
            <a:r>
              <a:rPr lang="en-US" sz="110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InsuranceController </a:t>
            </a: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→ thiết kế TC → rồi đọc Controller để confirm. Dùng @MockBean, @WithMockUser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THAM KHẢO NHANH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ghi nhớ — Dùng khi ngồi thiết kế TC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274320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design detail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77393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Liệt kê tất cả method cần test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34086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Xác định tất cả if/else/switch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90779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Tìm dependency cần Mock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4747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Tìm exception case </a:t>
            </a:r>
            <a:r>
              <a:rPr lang="en-US" sz="11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design detail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40416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Xác định field cần assert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1389888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389888"/>
            <a:ext cx="2743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389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Decision 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177393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Mỗi boundary = 1 hàng CONDITIONS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74136" y="234086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Mỗi kịch bản = 1 cột TC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290779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Mọi nhánh có cả cột T lẫn cột 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34747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Exception case có cột riêng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40416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EXPECTED RESULTS đủ field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08776" y="1389888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389888"/>
            <a:ext cx="2743200" cy="31089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389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Coverage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8504" y="177393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C0: mọi dòng được cover?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8504" y="234086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C1: mọi nhánh có T + F?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8504" y="290779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C2: biểu thức A&amp;&amp;B đủ tổ hợp?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8504" y="34747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Jacoco ≥ target sau khi code?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8504" y="40416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Không có uncovered branch quan trọng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&amp; Bước tiếp theo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>
                <a:latin typeface="Calibri" pitchFamily="34" charset="0"/>
                <a:ea typeface="Calibri" pitchFamily="34" charset="-122"/>
                <a:cs typeface="Calibri" pitchFamily="34" charset="-120"/>
              </a:rPr>
              <a:t>Đọc design detail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tìm 4 thứ: method, flow, dependency, exception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Mỗi if/else/switch = 1 boundary → 1 hàng CONDITIONS trong Decision Table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9751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Mỗi kịch bản = 1 cột TC → điền T/F/I → thêm EXPECTED RESULTS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140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Tự check: C0 mọi dòng? C1 mọi nhánh T+F? C2 đủ tổ hợp sub-condition?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Mỗi cột TC trong Decision Table = 1 dòng TC trong Excel template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364992"/>
            <a:ext cx="8321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 Tài liệu 3: JUnit 5 &amp; Mockito – Chuyển TC thành code</a:t>
            </a:r>
            <a:endParaRPr lang="en-US" sz="115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Tài liệu 4: Sample Project – Code mẫu map 1-1 với Decision Table</a:t>
            </a:r>
            <a:endParaRPr lang="en-US" sz="1150" dirty="0">
              <a:solidFill>
                <a:srgbClr val="0070C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5902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Bài tập thực hành: Tự thiết kế TC cho function được giao</a:t>
            </a:r>
            <a:endParaRPr lang="en-US" sz="1150" dirty="0">
              <a:solidFill>
                <a:srgbClr val="0070C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1321</TotalTime>
  <Words>2859</Words>
  <Application>Microsoft Office PowerPoint</Application>
  <PresentationFormat>On-screen Show (16:9)</PresentationFormat>
  <Paragraphs>527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BIZ UDPゴシック</vt:lpstr>
      <vt:lpstr>Calibri</vt:lpstr>
      <vt:lpstr>Calibri Light</vt:lpstr>
      <vt:lpstr>Consolas</vt:lpstr>
      <vt:lpstr>Rockwell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C0/C1/C2 Guide – Từ DD đến Decision Table</dc:title>
  <cp:lastModifiedBy>Nguyen Duy Hai</cp:lastModifiedBy>
  <cp:revision>7</cp:revision>
  <dcterms:created xsi:type="dcterms:W3CDTF">2026-06-02T08:26:18Z</dcterms:created>
  <dcterms:modified xsi:type="dcterms:W3CDTF">2026-06-12T09:39:56Z</dcterms:modified>
</cp:coreProperties>
</file>