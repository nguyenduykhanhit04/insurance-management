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7" d="100"/>
          <a:sy n="137" d="100"/>
        </p:scale>
        <p:origin x="7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85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FEAD43-A8DB-1CFC-439B-81D53210B2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5CA0B-06B5-A1EC-28BA-20DBE8943A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D5BE7-F79D-41EB-A273-3A8A8FE0A7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8BC37-2545-BADD-6626-DEA11081FC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D6F1B-9E16-3CAA-CFD8-E11589CBF4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37CD2-9419-4B47-BD01-914D7FE25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31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54EDB-574B-4E9A-9E06-6918ABCD01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F4FF2-D24B-4C7A-AB0A-0B342646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2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Cả jacoco và SonarQube đều gần giống C2. Các tool này đã rút gọn tổ hợp case cần thiết.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F4FF2-D24B-4C7A-AB0A-0B3426468A2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73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484">
            <a:extLst>
              <a:ext uri="{FF2B5EF4-FFF2-40B4-BE49-F238E27FC236}">
                <a16:creationId xmlns:a16="http://schemas.microsoft.com/office/drawing/2014/main" id="{0309D3D4-CCE6-6A8E-E2F8-9E9E98F3E77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4333500"/>
            <a:ext cx="996923" cy="810000"/>
          </a:xfrm>
          <a:prstGeom prst="rect">
            <a:avLst/>
          </a:prstGeom>
        </p:spPr>
      </p:pic>
      <p:sp>
        <p:nvSpPr>
          <p:cNvPr id="7" name="スライド番号プレースホルダー 4">
            <a:extLst>
              <a:ext uri="{FF2B5EF4-FFF2-40B4-BE49-F238E27FC236}">
                <a16:creationId xmlns:a16="http://schemas.microsoft.com/office/drawing/2014/main" id="{5FD327E5-4B2C-8612-981A-3CE9C0C061CC}"/>
              </a:ext>
            </a:extLst>
          </p:cNvPr>
          <p:cNvSpPr txBox="1">
            <a:spLocks/>
          </p:cNvSpPr>
          <p:nvPr userDrawn="1"/>
        </p:nvSpPr>
        <p:spPr>
          <a:xfrm>
            <a:off x="68400" y="4904625"/>
            <a:ext cx="2057400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87924" rtl="0" eaLnBrk="1" latinLnBrk="0" hangingPunct="1">
              <a:defRPr sz="1000" b="1" i="0" kern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Roboto"/>
              </a:defRPr>
            </a:lvl1pPr>
            <a:lvl2pPr marL="243962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7924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886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5848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9810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63772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07733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51695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D8C316A-6D50-4372-B914-692F4BCC999D}" type="slidenum">
              <a:rPr kumimoji="1" lang="ja-JP" altLang="en-US" sz="135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/>
              <a:t>‹#›</a:t>
            </a:fld>
            <a:endParaRPr kumimoji="1" lang="ja-JP" altLang="en-US" sz="135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object 2271">
            <a:extLst>
              <a:ext uri="{FF2B5EF4-FFF2-40B4-BE49-F238E27FC236}">
                <a16:creationId xmlns:a16="http://schemas.microsoft.com/office/drawing/2014/main" id="{FBC807B5-33C9-1CD5-E3B1-AA5DA4A33EBF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323077" cy="1620000"/>
          </a:xfrm>
          <a:prstGeom prst="rect">
            <a:avLst/>
          </a:prstGeom>
        </p:spPr>
      </p:pic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52D39BC7-97E3-5A1B-F9AF-0FAEFB7D0D0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2304" y="135000"/>
            <a:ext cx="664615" cy="270000"/>
          </a:xfrm>
          <a:prstGeom prst="rect">
            <a:avLst/>
          </a:prstGeom>
        </p:spPr>
      </p:pic>
      <p:pic>
        <p:nvPicPr>
          <p:cNvPr id="13" name="object 3">
            <a:extLst>
              <a:ext uri="{FF2B5EF4-FFF2-40B4-BE49-F238E27FC236}">
                <a16:creationId xmlns:a16="http://schemas.microsoft.com/office/drawing/2014/main" id="{07F469C7-650D-6C2A-12F7-9674073C2441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" y="857250"/>
            <a:ext cx="9153606" cy="40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83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2011680" cy="201168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SAMPLE PROJECT GUIDE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MH02 — Danh Sách Thẻ Bảo Hiểm · Controller Layer · JUnit 5 + MockMvc + Mockito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2048256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31136"/>
            <a:ext cx="2578608" cy="365760"/>
          </a:xfrm>
          <a:prstGeom prst="rect">
            <a:avLst/>
          </a:prstGeom>
          <a:solidFill>
            <a:srgbClr val="2E75B6">
              <a:alpha val="85000"/>
            </a:srgbClr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31136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TC_09 ~ TC_19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73552" y="2231136"/>
            <a:ext cx="2578608" cy="365760"/>
          </a:xfrm>
          <a:prstGeom prst="rect">
            <a:avLst/>
          </a:prstGeom>
          <a:solidFill>
            <a:srgbClr val="028090">
              <a:alpha val="8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2231136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JUnit 5 + MockMvc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44184" y="2231136"/>
            <a:ext cx="2578608" cy="365760"/>
          </a:xfrm>
          <a:prstGeom prst="rect">
            <a:avLst/>
          </a:prstGeom>
          <a:solidFill>
            <a:srgbClr val="2E7D32">
              <a:alpha val="85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44184" y="2231136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C0:100% / C1:≥80%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572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Thẻ Bảo Hiểm  ·  Spring Boot 3.x  ·  REST API  ·  Phần 4 của chuỗi training</a:t>
            </a:r>
            <a:endParaRPr lang="en-US" sz="1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480" y="215128"/>
            <a:ext cx="192024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9480" y="215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TỔNG QUAN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Sample Project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Thẻ Bảo Hiểm — Spring Boot MVC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2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14800" cy="3547872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11480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Package 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com.company.insurance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03504" y="19842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controller/          ← PL (ĐANG TEST)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49808" y="22311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InsuranceController.java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83280" y="2231136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SUT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9808" y="24780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CompanyController.java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83280" y="2478024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3504" y="27249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service/             ← BL (Mock)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9808" y="2971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InsuranceService.java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83280" y="297180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MOCK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9808" y="3218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CompanyService.java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83280" y="321868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MOCK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3504" y="34655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repository/          ← DAO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3504" y="37124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entity/              ← JPA Entity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3504" y="39593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dto/                 ← Request/Response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3504" y="4206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exception/           ← Global handler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4531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test/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3504" y="47000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InsuranceControllerTest.java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83280" y="4700016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FILE CHÍNH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0" y="1389888"/>
            <a:ext cx="4251960" cy="804672"/>
          </a:xfrm>
          <a:prstGeom prst="rect">
            <a:avLst/>
          </a:prstGeom>
          <a:solidFill>
            <a:srgbClr val="E3F2FD"/>
          </a:solidFill>
          <a:ln w="1905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389888"/>
            <a:ext cx="64008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444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— SUT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171907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InsuranceController và CompanyController là class đang được test. Xử lý HTTP request/response, gọi Service.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267712"/>
            <a:ext cx="4251960" cy="804672"/>
          </a:xfrm>
          <a:prstGeom prst="rect">
            <a:avLst/>
          </a:prstGeom>
          <a:solidFill>
            <a:srgbClr val="E0F7FA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2267712"/>
            <a:ext cx="6400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3225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— Mock target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259689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InsuranceService, CompanyService bị Mock. Controller không gọi thật vào DB.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145536"/>
            <a:ext cx="4251960" cy="804672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145536"/>
            <a:ext cx="64008" cy="8046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200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 — Test tool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3474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 giả lập HTTP call: perform(get('/api/...')).andExpect(status().isOk())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4023360"/>
            <a:ext cx="4251960" cy="80467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4023360"/>
            <a:ext cx="64008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0782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 — File chính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54880" y="435254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TC từ TC_09 đến TC_19 map với Excel. Comment giải thích TẠI SAO từng mock và assert.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Test Class — @WebMvcTest vs @SpringBootTest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Controller test, dùng @WebMvcTest — không load full ApplicationContext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3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892040" cy="35478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63040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@WebMvcTest — chỉ load Controller layer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" y="1633118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KHÔNG load Service, Repository, DB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8056" y="1803197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@WebMvcTest(InsuranceController.class)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" y="1973275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InsuranceControllerTest {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" y="2143354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" dirty="0"/>
          </a:p>
        </p:txBody>
      </p:sp>
      <p:sp>
        <p:nvSpPr>
          <p:cNvPr id="13" name="Text 11"/>
          <p:cNvSpPr/>
          <p:nvPr/>
        </p:nvSpPr>
        <p:spPr>
          <a:xfrm>
            <a:off x="448056" y="2313432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MockMvc — giả lập HTTP request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8056" y="2483510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" y="2653589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MockMvc mockMvc;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" y="2823667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" dirty="0"/>
          </a:p>
        </p:txBody>
      </p:sp>
      <p:sp>
        <p:nvSpPr>
          <p:cNvPr id="17" name="Text 15"/>
          <p:cNvSpPr/>
          <p:nvPr/>
        </p:nvSpPr>
        <p:spPr>
          <a:xfrm>
            <a:off x="448056" y="2993746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Mock Service dependency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" y="3163824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@MockBean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8056" y="3333902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InsuranceService insuranceService;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" y="3503981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" dirty="0"/>
          </a:p>
        </p:txBody>
      </p:sp>
      <p:sp>
        <p:nvSpPr>
          <p:cNvPr id="21" name="Text 19"/>
          <p:cNvSpPr/>
          <p:nvPr/>
        </p:nvSpPr>
        <p:spPr>
          <a:xfrm>
            <a:off x="448056" y="3674059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@MockBean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" y="3844138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CompanyService companyService;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" y="4014216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" dirty="0"/>
          </a:p>
        </p:txBody>
      </p:sp>
      <p:sp>
        <p:nvSpPr>
          <p:cNvPr id="24" name="Text 22"/>
          <p:cNvSpPr/>
          <p:nvPr/>
        </p:nvSpPr>
        <p:spPr>
          <a:xfrm>
            <a:off x="448056" y="4184294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ObjectMapper — convert JSON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" y="4354373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8056" y="4524451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ObjectMapper objectMapper;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8056" y="4694530"/>
            <a:ext cx="463600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49240" y="1426464"/>
            <a:ext cx="3474720" cy="1005840"/>
          </a:xfrm>
          <a:prstGeom prst="rect">
            <a:avLst/>
          </a:prstGeom>
          <a:solidFill>
            <a:srgbClr val="F4F6F8"/>
          </a:solidFill>
          <a:ln w="25400">
            <a:solidFill>
              <a:srgbClr val="C586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49240" y="1426464"/>
            <a:ext cx="64008" cy="1005840"/>
          </a:xfrm>
          <a:prstGeom prst="rect">
            <a:avLst/>
          </a:prstGeom>
          <a:solidFill>
            <a:srgbClr val="C586C0"/>
          </a:solidFill>
          <a:ln w="12700">
            <a:solidFill>
              <a:srgbClr val="C586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148132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@WebMvcTest(Controller.class)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04688" y="1792224"/>
            <a:ext cx="32186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chỉ Controller layer + MockMvc.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 hơn @SpringBootTest ~10x vì không khởi động DB, Security, v.v.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2670048"/>
            <a:ext cx="3474720" cy="1005840"/>
          </a:xfrm>
          <a:prstGeom prst="rect">
            <a:avLst/>
          </a:prstGeom>
          <a:solidFill>
            <a:srgbClr val="F4F6F8"/>
          </a:solidFill>
          <a:ln w="25400">
            <a:solidFill>
              <a:srgbClr val="C586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49240" y="2670048"/>
            <a:ext cx="64008" cy="1005840"/>
          </a:xfrm>
          <a:prstGeom prst="rect">
            <a:avLst/>
          </a:prstGeom>
          <a:solidFill>
            <a:srgbClr val="C586C0"/>
          </a:solidFill>
          <a:ln w="12700">
            <a:solidFill>
              <a:srgbClr val="C586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4688" y="2724912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@MockBean (không phải @Mock)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04688" y="3035808"/>
            <a:ext cx="32186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@MockBean = Spring-aware mock — inject vào ApplicationContext.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@Mock của Mockito thuần không work với @WebMvcTest.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49240" y="3803904"/>
            <a:ext cx="3474720" cy="1005840"/>
          </a:xfrm>
          <a:prstGeom prst="rect">
            <a:avLst/>
          </a:prstGeom>
          <a:solidFill>
            <a:srgbClr val="F4F6F8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49240" y="3803904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04688" y="385876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MockMvc @Autowired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04688" y="4169664"/>
            <a:ext cx="32186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 được auto-configured bởi @WebMvcTest.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để gọi: mockMvc.perform(get('/api/...')).andExpect(...)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CẤU TRÚC TC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Given/When/Then — MockMvc version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TC_09: should_Return200WithList_when_DataExists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4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892040" cy="35478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63040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" y="1617657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@DisplayName("TC_09: Return200_when_DataExists")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" y="1772273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should_Return200WithList_when_DataExists()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8056" y="1926890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throws Exception {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" y="2081507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Given 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056" y="2236124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mockList = List.of(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056" y="2390740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InsuranceResponseDto.builder()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" y="2545357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.insuranceNumber("1234567890")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" y="2699974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.userName("Nguyen Van A").build(),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" y="2854591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4 more items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" y="3009207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" y="3163824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mockPage = new PageImpl&lt;&gt;(mockList);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" y="3318441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when(insuranceService.searchInsurances(any()))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" y="3473057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.thenReturn(mockPage);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" y="3627674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When + Then (MockMvc chain) ──────────────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" y="3782291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mockMvc.perform(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" y="3936908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get("/api/insurances")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" y="4091524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.param("companyId", "1")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" y="4246141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.param("page", "0"))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" y="4400758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.andExpect(status().isOk())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8056" y="4555375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.andExpect(jsonPath("$.data").isArray())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" y="4709991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.andExpect(jsonPath("$.data.length()").value(5));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49240" y="1389888"/>
            <a:ext cx="34747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49240" y="1389888"/>
            <a:ext cx="64008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1389888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GIVEN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53328" y="14447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mock Service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53328" y="17373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Tạo mock data (Page với 5 items)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53328" y="19568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when(service).thenReturn(mockPage)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53328" y="21762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Không gọi HTTP ở đây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49240" y="2871216"/>
            <a:ext cx="34747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49240" y="2871216"/>
            <a:ext cx="64008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2871216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WHEN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53328" y="29260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MockMvc.perform() — gọi HTTP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53328" y="32186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mockMvc.perform(get("/api/..."))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53328" y="34381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Truyền param qua .param()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53328" y="36576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 request duy nhất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349240" y="4078224"/>
            <a:ext cx="34747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349240" y="4078224"/>
            <a:ext cx="64008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4078224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THEN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53328" y="41330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.andExpect() — assert response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053328" y="44256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status().isOk() — HTTP 200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53328" y="4645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jsonPath('$.data').isArray()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053328" y="48646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jsonPath('$.data.length()').value(5)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MOCKMVC API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 API — Các method thường dùng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cho việc viết Controller test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5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892040" cy="35478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63040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perform(): Gọi HTTP request ─────────────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" y="1625019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mockMvc.perform(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8056" y="1786999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get("/api/insurances")         // GET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8056" y="1948978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.param("companyId", "1")   // query param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" y="2110958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.param("sort", "ASC"))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056" y="2272937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" dirty="0"/>
          </a:p>
        </p:txBody>
      </p:sp>
      <p:sp>
        <p:nvSpPr>
          <p:cNvPr id="14" name="Text 12"/>
          <p:cNvSpPr/>
          <p:nvPr/>
        </p:nvSpPr>
        <p:spPr>
          <a:xfrm>
            <a:off x="448056" y="2434917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andExpect(): Assert kết quả ─────────────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" y="2596896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.andExpect(status().isOk())         // 200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" y="2758875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.andExpect(status().isBadRequest()) // 400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" y="2920855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.andExpect(jsonPath("$.data").isArray())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" y="3082834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.andExpect(jsonPath("$.data.length()").value(5))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8056" y="3244814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.andExpect(jsonPath("$.data[0].userName")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" y="3406793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.value("Nguyen Van A"))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" y="3568773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" dirty="0"/>
          </a:p>
        </p:txBody>
      </p:sp>
      <p:sp>
        <p:nvSpPr>
          <p:cNvPr id="22" name="Text 20"/>
          <p:cNvSpPr/>
          <p:nvPr/>
        </p:nvSpPr>
        <p:spPr>
          <a:xfrm>
            <a:off x="448056" y="3730752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Header assert (CSV export) ──────────────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" y="3892731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.andExpect(header().string(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056" y="4054711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"Content-Type",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" y="4216690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containsString("text/csv")))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8056" y="4378670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.andExpect(header().string(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8056" y="4540649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"Content-Disposition",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8056" y="4702629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containsString("attachment")))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49240" y="1389888"/>
            <a:ext cx="3474720" cy="3547872"/>
          </a:xfrm>
          <a:prstGeom prst="rect">
            <a:avLst/>
          </a:prstGeom>
          <a:solidFill>
            <a:srgbClr val="F4F6F8"/>
          </a:solidFill>
          <a:ln w="25400">
            <a:solidFill>
              <a:srgbClr val="1F386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49240" y="1389888"/>
            <a:ext cx="34747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MockMvc Assert ↔ Excel TC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1737360"/>
            <a:ext cx="338328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17556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status().isOk()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19751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Expected HTTP Status == 200 OK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94960" y="2249424"/>
            <a:ext cx="3383280" cy="457200"/>
          </a:xfrm>
          <a:prstGeom prst="rect">
            <a:avLst/>
          </a:prstGeom>
          <a:solidFill>
            <a:srgbClr val="FBE9E7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226771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F36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status().isBadRequest()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24871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Expected HTTP Status == 400 Bad Request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94960" y="2761488"/>
            <a:ext cx="33832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277977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jsonPath('$.data').isArray()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29992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response.data là array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94960" y="3273552"/>
            <a:ext cx="33832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32918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jsonPath('$.data.length()').value(n)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0" y="351129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response data.size() == 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94960" y="3785616"/>
            <a:ext cx="338328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38039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jsonPath('$.message').value('...')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0" y="40233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Assert message lỗi khi 4xx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94960" y="4297680"/>
            <a:ext cx="3383280" cy="457200"/>
          </a:xfrm>
          <a:prstGeom prst="rect">
            <a:avLst/>
          </a:prstGeom>
          <a:solidFill>
            <a:srgbClr val="E0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0" y="431596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header().string('Content-Type',...)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0" y="45354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Assert Content-Type cho CSV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MAP EXCEL→CODE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TC_09 — Map từng cột Excel sang Java + MockMvc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cột trong sheet [DS Test Case] → đúng 1 phần trong test method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6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354787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1605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Excel: DS Test Case — TC_09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ID: </a:t>
            </a: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374904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9696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374904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4203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</a:t>
            </a: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searchInsurances() trả về Page 5 items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companyId=1, page=0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374904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44368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</a:t>
            </a:r>
            <a:r>
              <a:rPr lang="en-US" sz="1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/api/insurances?companyId=1&amp;page=0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374904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46704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200, data.size()==5, data[0].insuranceNumber != null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374904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4904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ID: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374904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51376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status().isOk()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jsonPath('$.data').isArray()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jsonPath('$.data.length()').value(5)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108960"/>
            <a:ext cx="45720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2971800"/>
            <a:ext cx="18288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321868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1-1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30368" y="1389888"/>
            <a:ext cx="3593592" cy="35478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8384" y="1463040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TC_09 → method name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58384" y="1625019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should_Return200WithList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58384" y="1786999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_when_DataExists() {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58384" y="1948978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Given → Mock setup (MOCK_01)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58384" y="2110958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page = new PageImpl&lt;&gt;(List.of(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58384" y="2272937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mockDto("1234567890", "Nguyen Van A"),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58384" y="2434917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4 more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58384" y="2596896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));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58384" y="2758875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when(insuranceService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58384" y="2920855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.searchInsurances(any()))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58384" y="3082834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.thenReturn(page);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58384" y="3244814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When+Then → MockMvc perform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58384" y="3406793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mockMvc.perform(get("/api/insurances")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58384" y="3568773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.param("companyId", "1")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58384" y="3730752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.param("page", "0"))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58384" y="3892731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.andExpect(status().isOk())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58384" y="4054711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.andExpect(jsonPath("$.data")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58384" y="4216690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.isArray())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58384" y="4378670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.andExpect(jsonPath("$.data.length()")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58384" y="4540649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.value(5));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58384" y="4702629"/>
            <a:ext cx="3337560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EXCEPTION TC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TC_18 — Export CSV rỗng: thenThrow + 400 assert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list trống → Service throw exception → Controller trả về 400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7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892040" cy="35478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63040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TC_18: Export CSV — không có dữ liệu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" y="1625019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8056" y="1786999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should_Return400_when_EmptyDataExportCsv()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8056" y="1948978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throws Exception {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" y="2110958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Given: Service ném EmptyDataException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056" y="2272937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when(insuranceService.exportCsv(any()))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8056" y="2434917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.thenThrow(new EmptyDataException(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" y="2596896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"Không có dữ liệu để xuất"));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" y="2758875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" dirty="0"/>
          </a:p>
        </p:txBody>
      </p:sp>
      <p:sp>
        <p:nvSpPr>
          <p:cNvPr id="17" name="Text 15"/>
          <p:cNvSpPr/>
          <p:nvPr/>
        </p:nvSpPr>
        <p:spPr>
          <a:xfrm>
            <a:off x="448056" y="2920855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When + Then: MockMvc assert 400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" y="3082834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mockMvc.perform(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8056" y="3244814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get("/api/insurances/export-csv")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" y="3406793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.param("companyId", "1"))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" y="3568773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.andExpect(status().isBadRequest())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" y="3730752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.andExpect(jsonPath("$.status").value(400))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" y="3892731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.andExpect(jsonPath("$.message")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056" y="4054711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.value("Không có dữ liệu để xuất"));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" y="4216690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" dirty="0"/>
          </a:p>
        </p:txBody>
      </p:sp>
      <p:sp>
        <p:nvSpPr>
          <p:cNvPr id="26" name="Text 24"/>
          <p:cNvSpPr/>
          <p:nvPr/>
        </p:nvSpPr>
        <p:spPr>
          <a:xfrm>
            <a:off x="448056" y="4378670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verify(insuranceService, times(1))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8056" y="4540649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.exportCsv(any());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8056" y="4702629"/>
            <a:ext cx="4636008" cy="16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49240" y="1389888"/>
            <a:ext cx="3474720" cy="841248"/>
          </a:xfrm>
          <a:prstGeom prst="rect">
            <a:avLst/>
          </a:prstGeom>
          <a:solidFill>
            <a:srgbClr val="F4F6F8"/>
          </a:solidFill>
          <a:ln w="25400">
            <a:solidFill>
              <a:srgbClr val="CE917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49240" y="1389888"/>
            <a:ext cx="64008" cy="841248"/>
          </a:xfrm>
          <a:prstGeom prst="rect">
            <a:avLst/>
          </a:prstGeom>
          <a:solidFill>
            <a:srgbClr val="CE9178"/>
          </a:solidFill>
          <a:ln w="12700">
            <a:solidFill>
              <a:srgbClr val="CE91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1444752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thenThrow(EmptyDataException)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04688" y="1737360"/>
            <a:ext cx="3218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ném exception khi không có data.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 bắt và trả về 400 Bad Request.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49240" y="2304288"/>
            <a:ext cx="3474720" cy="841248"/>
          </a:xfrm>
          <a:prstGeom prst="rect">
            <a:avLst/>
          </a:prstGeom>
          <a:solidFill>
            <a:srgbClr val="F4F6F8"/>
          </a:solidFill>
          <a:ln w="25400">
            <a:solidFill>
              <a:srgbClr val="4FC1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49240" y="2304288"/>
            <a:ext cx="64008" cy="841248"/>
          </a:xfrm>
          <a:prstGeom prst="rect">
            <a:avLst/>
          </a:prstGeom>
          <a:solidFill>
            <a:srgbClr val="4FC1FF"/>
          </a:solidFill>
          <a:ln w="12700">
            <a:solidFill>
              <a:srgbClr val="4FC1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2359152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status().isBadRequest() — không isOk()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04688" y="2651760"/>
            <a:ext cx="3218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rõ: 200=isOk(), 400=isBadRequest(), 404=isNotFound(), 401=isUnauthorized().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49240" y="3218688"/>
            <a:ext cx="3474720" cy="841248"/>
          </a:xfrm>
          <a:prstGeom prst="rect">
            <a:avLst/>
          </a:prstGeom>
          <a:solidFill>
            <a:srgbClr val="F4F6F8"/>
          </a:solidFill>
          <a:ln w="25400">
            <a:solidFill>
              <a:srgbClr val="4EC9B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49240" y="3218688"/>
            <a:ext cx="64008" cy="841248"/>
          </a:xfrm>
          <a:prstGeom prst="rect">
            <a:avLst/>
          </a:prstGeom>
          <a:solidFill>
            <a:srgbClr val="4EC9B0"/>
          </a:solidFill>
          <a:ln w="12700">
            <a:solidFill>
              <a:srgbClr val="4EC9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04688" y="3273552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jsonPath('$.status') + jsonPath('$.message')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04688" y="3566160"/>
            <a:ext cx="3218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đúng response format chuẩn: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{status:400, message:'...', data:null}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49240" y="4133088"/>
            <a:ext cx="3474720" cy="841248"/>
          </a:xfrm>
          <a:prstGeom prst="rect">
            <a:avLst/>
          </a:prstGeom>
          <a:solidFill>
            <a:srgbClr val="F4F6F8"/>
          </a:solidFill>
          <a:ln w="25400">
            <a:solidFill>
              <a:srgbClr val="4FC1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49240" y="4133088"/>
            <a:ext cx="64008" cy="841248"/>
          </a:xfrm>
          <a:prstGeom prst="rect">
            <a:avLst/>
          </a:prstGeom>
          <a:solidFill>
            <a:srgbClr val="4FC1FF"/>
          </a:solidFill>
          <a:ln w="12700">
            <a:solidFill>
              <a:srgbClr val="4FC1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4187952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verify() Service đã được gọi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04688" y="4480560"/>
            <a:ext cx="3218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 throw exception, Service vẫn phải được gọi 1 lần.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verify() xác nhận Controller đã gọi đúng method.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CSV EXPORT TC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TC_17 — Export CSV thành công: assert Content-Type + header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với JSON API — CSV cần assert header response thay vì JSON body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8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892040" cy="35478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63040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TC_17: Export CSV thành công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" y="1617657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8056" y="1772273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should_ReturnCsvFile_when_DataExists()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8056" y="1926890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throws Exception {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" y="2081507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Given: Service trả về byte[] CSV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056" y="2236124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byte[] csvContent = ("\uFEFF" +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8056" y="2390740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"Nguyen Van A,01,01/01/1990,...")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" y="2545357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.getBytes(StandardCharsets.UTF_8);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" y="2699974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when(insuranceService.exportCsv(any()))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" y="2854591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.thenReturn(csvContent);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" y="3009207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" dirty="0"/>
          </a:p>
        </p:txBody>
      </p:sp>
      <p:sp>
        <p:nvSpPr>
          <p:cNvPr id="19" name="Text 17"/>
          <p:cNvSpPr/>
          <p:nvPr/>
        </p:nvSpPr>
        <p:spPr>
          <a:xfrm>
            <a:off x="448056" y="3163824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When + Then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" y="3318441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mockMvc.perform(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" y="3473057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get("/api/insurances/export-csv")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" y="3627674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.param("companyId", "1"))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" y="3782291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.andExpect(status().isOk())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056" y="3936908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.andExpect(header().string(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" y="4091524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"Content-Type",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8056" y="4246141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containsString("text/csv")))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8056" y="4400758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.andExpect(header().string(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8056" y="4555375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"Content-Disposition",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8056" y="4709991"/>
            <a:ext cx="4636008" cy="15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containsString("attachment")));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49240" y="1389888"/>
            <a:ext cx="34747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CE917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49240" y="1389888"/>
            <a:ext cx="64008" cy="1097280"/>
          </a:xfrm>
          <a:prstGeom prst="rect">
            <a:avLst/>
          </a:prstGeom>
          <a:solidFill>
            <a:srgbClr val="CE9178"/>
          </a:solidFill>
          <a:ln w="12700">
            <a:solidFill>
              <a:srgbClr val="CE91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1444752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E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trả về byte[] — không phải Object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504688" y="1773936"/>
            <a:ext cx="32186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trả về binary content (byte[]).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mock content với UTF-8 BOM (\uFEFF) ở đầu.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49240" y="2560320"/>
            <a:ext cx="34747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EC9B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49240" y="2560320"/>
            <a:ext cx="64008" cy="1097280"/>
          </a:xfrm>
          <a:prstGeom prst="rect">
            <a:avLst/>
          </a:prstGeom>
          <a:solidFill>
            <a:srgbClr val="4EC9B0"/>
          </a:solidFill>
          <a:ln w="12700">
            <a:solidFill>
              <a:srgbClr val="4EC9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4688" y="2615184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header().string() — assert HTTP header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504688" y="2944368"/>
            <a:ext cx="32186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jsonPath() cho CSV response.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Content-Type và Content-Disposition header thay vì body.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49240" y="3730752"/>
            <a:ext cx="34747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49240" y="3730752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04688" y="3785616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containsString() — không equals()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504688" y="4114800"/>
            <a:ext cx="32186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 thường là 'text/csv;charset=UTF-8'.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containsString('text/csv') để tránh fail vì charset suffix.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SORT TC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TC_15 + TC_16 — Sort ASC/DESC: C1 Branch Test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(sort == ASC) → cần 2 TC: 1 ASC + 1 DESC → C1 branch coverage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9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3547872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TC_15: sort=ASC (nhánh TRUE)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416052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737360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Given: mock data sorted ASC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" y="1977717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sorted = List.of(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" y="2218073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dto("An Nguyen"),   // A đầu tiên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056" y="2458430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dto("Binh Tran"),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" y="2698786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dto("Chi Le"));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" y="2939143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when(service.searchInsurances(any()))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" y="3179499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.thenReturn(new PageImpl&lt;&gt;(sorted));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493008"/>
            <a:ext cx="416052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3566160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Then: item đầu tiên là 'An Nguyen'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" y="3719779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mockMvc.perform(get("/api/insurances")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" y="3873398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.param("sort","ASC"))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" y="4027018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.andExpect(jsonPath("$.data[0].userName")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" y="4180637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.value("An Nguyen"));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443984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Nhánh ASC: data[0] = item đầu theo ABC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389888"/>
            <a:ext cx="4160520" cy="3547872"/>
          </a:xfrm>
          <a:prstGeom prst="rect">
            <a:avLst/>
          </a:prstGeom>
          <a:solidFill>
            <a:srgbClr val="FBE9E7"/>
          </a:solidFill>
          <a:ln w="2540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389888"/>
            <a:ext cx="4160520" cy="2743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3898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TC_16: sort=DESC (nhánh FALSE)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664208"/>
            <a:ext cx="416052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1737360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Given: mock data sorted DESC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1456" y="1977717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sorted = List.of(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91456" y="2218073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dto("Vu Thi Z"),    // Z đầu tiên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91456" y="2458430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dto("Tran Van Y"),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91456" y="2698786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dto("Minh Nguyen"));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91456" y="2939143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when(service.searchInsurances(any()))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91456" y="3179499"/>
            <a:ext cx="3904488" cy="24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.thenReturn(new PageImpl&lt;&gt;(sorted));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493008"/>
            <a:ext cx="416052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3566160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Then: item đầu tiên là 'Vu Thi Z'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91456" y="3719779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mockMvc.perform(get("/api/insurances")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91456" y="3873398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.param("sort","DESC"))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91456" y="4027018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.andExpect(jsonPath("$.data[0].userName")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91456" y="4180637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.value("Vu Thi Z"));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4443984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Nhánh DESC: data[0] = item cuối theo ABC (Z trước)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ASSERT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đúng và sai — MockMvc context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assert sai → test pass nhưng bug vẫn thoát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10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3886200" cy="106070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63040"/>
            <a:ext cx="3630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.andExpect(jsonPath("$.data").exists())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" y="1920240"/>
            <a:ext cx="3630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Chỉ biết 'data tồn tại'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79392" y="17556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1389888"/>
            <a:ext cx="4114800" cy="106070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463040"/>
            <a:ext cx="38587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.andExpect(jsonPath("$.data").isArray())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37176" y="1767840"/>
            <a:ext cx="38587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.andExpect(jsonPath("$.data.length()").value(5))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37176" y="2072640"/>
            <a:ext cx="38587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Biết chính xác type và số lượng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188720"/>
            <a:ext cx="914400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188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List size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578608"/>
            <a:ext cx="3886200" cy="106070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2651760"/>
            <a:ext cx="3630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.andExpect(content().string(containsString("200")))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8056" y="3108960"/>
            <a:ext cx="3630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Tìm '200' trong raw response string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79392" y="29443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14800" cy="106070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2651760"/>
            <a:ext cx="38587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.andExpect(status().isOk())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37176" y="2956560"/>
            <a:ext cx="38587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.andExpect(jsonPath("$.status").value(200))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37176" y="3261360"/>
            <a:ext cx="38587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Assert HTTP status + JSON field riêng biệt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377440"/>
            <a:ext cx="914400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377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HTTP status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767328"/>
            <a:ext cx="3886200" cy="106070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3840480"/>
            <a:ext cx="3630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.andExpect(status().is2xxSuccessful())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8056" y="4297680"/>
            <a:ext cx="3630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201/204 cũng pass — quá lỏng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79392" y="41330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09160" y="3767328"/>
            <a:ext cx="4114800" cy="106070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3840480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.andExpect(status().isOk())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37176" y="4297680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Chỉ 200 mới pass — chính xác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566160"/>
            <a:ext cx="914400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566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200 vs 2xx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" y="4645152"/>
            <a:ext cx="8247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MockMvc andExpect() chain: mọi assert fail → test fail. Thêm nhiều andExpect() không làm chậm test — nên assert đủ.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TỔNG QUAN TC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11 TC — Map với Excel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hàng = 1 method @Test trong InsuranceControllerTest.java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11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229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TC 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0432" y="1389888"/>
            <a:ext cx="4361688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389888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Method 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389888"/>
            <a:ext cx="1252728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389888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76288" y="1389888"/>
            <a:ext cx="10515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13898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Mock 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73568" y="1389888"/>
            <a:ext cx="130759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73568" y="138988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Endpoint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682496"/>
            <a:ext cx="822960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68249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170432" y="1682496"/>
            <a:ext cx="4361688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1682496"/>
            <a:ext cx="4270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should_Return200WithList_when_DataExists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7840" y="1682496"/>
            <a:ext cx="1252728" cy="292608"/>
          </a:xfrm>
          <a:prstGeom prst="rect">
            <a:avLst/>
          </a:prstGeom>
          <a:solidFill>
            <a:srgbClr val="E3F2FD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1682496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76288" y="1682496"/>
            <a:ext cx="1051560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168249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MOCK_01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73568" y="1682496"/>
            <a:ext cx="1307592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19288" y="1682496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/insurances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011680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0116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170432" y="2011680"/>
            <a:ext cx="43616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6152" y="2011680"/>
            <a:ext cx="4270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should_Return200EmptyList_when_NoData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77840" y="2011680"/>
            <a:ext cx="1252728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201168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76288" y="2011680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2008" y="2011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MOCK_02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73568" y="2011680"/>
            <a:ext cx="13075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9288" y="2011680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/insurances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2340864"/>
            <a:ext cx="822960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3408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170432" y="2340864"/>
            <a:ext cx="4361688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16152" y="2340864"/>
            <a:ext cx="4270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should_FilterByName_when_NameParamProvided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577840" y="2340864"/>
            <a:ext cx="1252728" cy="292608"/>
          </a:xfrm>
          <a:prstGeom prst="rect">
            <a:avLst/>
          </a:prstGeom>
          <a:solidFill>
            <a:srgbClr val="E0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2340864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76288" y="2340864"/>
            <a:ext cx="1051560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22008" y="234086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MOCK_03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973568" y="2340864"/>
            <a:ext cx="1307592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19288" y="2340864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/insurances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2670048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26700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170432" y="2670048"/>
            <a:ext cx="43616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16152" y="2670048"/>
            <a:ext cx="4270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should_FilterByInsuranceNumber_when_Provided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577840" y="2670048"/>
            <a:ext cx="1252728" cy="292608"/>
          </a:xfrm>
          <a:prstGeom prst="rect">
            <a:avLst/>
          </a:prstGeom>
          <a:solidFill>
            <a:srgbClr val="E0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23560" y="267004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76288" y="2670048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22008" y="267004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MOCK_04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973568" y="2670048"/>
            <a:ext cx="13075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19288" y="2670048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/insurances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0040" y="2999232"/>
            <a:ext cx="822960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299923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TC_13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170432" y="2999232"/>
            <a:ext cx="4361688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216152" y="2999232"/>
            <a:ext cx="4270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should_FilterByPlace_when_PlaceParamProvided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577840" y="2999232"/>
            <a:ext cx="1252728" cy="292608"/>
          </a:xfrm>
          <a:prstGeom prst="rect">
            <a:avLst/>
          </a:prstGeom>
          <a:solidFill>
            <a:srgbClr val="E0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23560" y="2999232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76288" y="2999232"/>
            <a:ext cx="1051560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22008" y="299923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MOCK_05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973568" y="2999232"/>
            <a:ext cx="1307592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19288" y="2999232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/insurances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20040" y="3328416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332841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TC_14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170432" y="3328416"/>
            <a:ext cx="43616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16152" y="3328416"/>
            <a:ext cx="4270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should_ReturnPage0With5Records_when_Paginated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577840" y="3328416"/>
            <a:ext cx="1252728" cy="292608"/>
          </a:xfrm>
          <a:prstGeom prst="rect">
            <a:avLst/>
          </a:prstGeom>
          <a:solidFill>
            <a:srgbClr val="F3E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23560" y="3328416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trang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76288" y="3328416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22008" y="332841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MOCK_06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973568" y="3328416"/>
            <a:ext cx="13075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19288" y="3328416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/insurances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20040" y="3657600"/>
            <a:ext cx="822960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36576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TC_15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170432" y="3657600"/>
            <a:ext cx="4361688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216152" y="3657600"/>
            <a:ext cx="4270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should_ReturnAscOrder_when_SortASC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577840" y="3657600"/>
            <a:ext cx="1252728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23560" y="365760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876288" y="3657600"/>
            <a:ext cx="1051560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922008" y="36576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MOCK_07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973568" y="3657600"/>
            <a:ext cx="1307592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19288" y="3657600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/insurances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20040" y="3986784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5760" y="398678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TC_16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1170432" y="3986784"/>
            <a:ext cx="43616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216152" y="3986784"/>
            <a:ext cx="4270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should_ReturnDescOrder_when_SortDESC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577840" y="3986784"/>
            <a:ext cx="1252728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23560" y="3986784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876288" y="3986784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22008" y="398678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MOCK_08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973568" y="3986784"/>
            <a:ext cx="13075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019288" y="3986784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/insurances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320040" y="4315968"/>
            <a:ext cx="822960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65760" y="43159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TC_17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170432" y="4315968"/>
            <a:ext cx="4361688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216152" y="4315968"/>
            <a:ext cx="4270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should_ReturnCsvFile_when_DataExists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5577840" y="4315968"/>
            <a:ext cx="1252728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623560" y="431596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876288" y="4315968"/>
            <a:ext cx="1051560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22008" y="431596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MOCK_09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7973568" y="4315968"/>
            <a:ext cx="1307592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019288" y="4315968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/export-csv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320040" y="4645152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65760" y="464515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TC_18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1170432" y="4645152"/>
            <a:ext cx="43616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216152" y="4645152"/>
            <a:ext cx="4270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should_Return400_when_EmptyDataExportCsv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5577840" y="4645152"/>
            <a:ext cx="1252728" cy="292608"/>
          </a:xfrm>
          <a:prstGeom prst="rect">
            <a:avLst/>
          </a:prstGeom>
          <a:solidFill>
            <a:srgbClr val="FBE9E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623560" y="4645152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6876288" y="4645152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922008" y="464515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MOCK_10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7973568" y="4645152"/>
            <a:ext cx="13075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019288" y="4645152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/export-csv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320040" y="4974336"/>
            <a:ext cx="822960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65760" y="497433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TC_19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1170432" y="4974336"/>
            <a:ext cx="4361688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216152" y="4974336"/>
            <a:ext cx="4270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should_Return200Companies_when_Called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5577840" y="4974336"/>
            <a:ext cx="1252728" cy="292608"/>
          </a:xfrm>
          <a:prstGeom prst="rect">
            <a:avLst/>
          </a:prstGeom>
          <a:solidFill>
            <a:srgbClr val="E3F2FD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623560" y="4974336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6876288" y="4974336"/>
            <a:ext cx="1051560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922008" y="497433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MOCK_11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7973568" y="4974336"/>
            <a:ext cx="1307592" cy="29260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019288" y="4974336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/companies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JACOCO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— Công cụ đo Coverage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Gradle: ./gradlew test jacocoTestReport  ·  Maven: mvn clean verify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12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3547872"/>
          </a:xfrm>
          <a:prstGeom prst="rect">
            <a:avLst/>
          </a:prstGeom>
          <a:solidFill>
            <a:srgbClr val="F4F6F8"/>
          </a:solidFill>
          <a:ln w="254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là gì?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(Java Code Coverage)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là công cụ đo coverage tích hợp trong build tool. Tự động instrument bytecode, thu thập dữ liệu khi test chạy và xuất báo cáo HTML.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487168"/>
            <a:ext cx="416052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871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chạy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416052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2816352"/>
            <a:ext cx="39044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Gradle (dự án này dùng Gradle)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" y="3033979"/>
            <a:ext cx="39044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test jacocoTestReport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" y="3251606"/>
            <a:ext cx="39044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448056" y="3469234"/>
            <a:ext cx="39044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Maven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" y="3686861"/>
            <a:ext cx="39044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clean verify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041648"/>
            <a:ext cx="4160520" cy="310896"/>
          </a:xfrm>
          <a:prstGeom prst="rect">
            <a:avLst/>
          </a:prstGeom>
          <a:solidFill>
            <a:srgbClr val="E3F2FD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0599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Output: </a:t>
            </a: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build/reports/jacoco/test/html/</a:t>
            </a: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1389888"/>
            <a:ext cx="4206240" cy="3547872"/>
          </a:xfrm>
          <a:prstGeom prst="rect">
            <a:avLst/>
          </a:prstGeom>
          <a:solidFill>
            <a:srgbClr val="F4F6F8"/>
          </a:solidFill>
          <a:ln w="25400">
            <a:solidFill>
              <a:srgbClr val="1F386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389888"/>
            <a:ext cx="420624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389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cột trong báo cáo HTML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737360"/>
            <a:ext cx="4005072" cy="7132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737360"/>
            <a:ext cx="64008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7739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Missed Instructions / Cov.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26096" y="1792224"/>
            <a:ext cx="502920" cy="201168"/>
          </a:xfrm>
          <a:prstGeom prst="rect">
            <a:avLst/>
          </a:prstGeom>
          <a:solidFill>
            <a:srgbClr val="2E7D32">
              <a:alpha val="8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6096" y="17922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C0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64608" y="2066544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bytecode instruction bị bỏ qua. Cov.=100% → C0 đạt.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532888"/>
            <a:ext cx="4005072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532888"/>
            <a:ext cx="64008" cy="71323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5694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Missed Branches / Cov.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26096" y="2587752"/>
            <a:ext cx="502920" cy="201168"/>
          </a:xfrm>
          <a:prstGeom prst="rect">
            <a:avLst/>
          </a:prstGeom>
          <a:solidFill>
            <a:srgbClr val="F57F17">
              <a:alpha val="80000"/>
            </a:srgbClr>
          </a:solidFill>
          <a:ln w="6350">
            <a:solidFill>
              <a:srgbClr val="F57F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6096" y="25877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</a:rPr>
              <a:t>C1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64608" y="2862072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nhánh if/else chưa được test. Cov.≥80% → C1 đạt.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328416"/>
            <a:ext cx="4005072" cy="713232"/>
          </a:xfrm>
          <a:prstGeom prst="rect">
            <a:avLst/>
          </a:prstGeom>
          <a:solidFill>
            <a:srgbClr val="E0F7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328416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3649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64608" y="3657600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dòng source code được thực thi. Liên quan C0.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4123944"/>
            <a:ext cx="4005072" cy="713232"/>
          </a:xfrm>
          <a:prstGeom prst="rect">
            <a:avLst/>
          </a:prstGeom>
          <a:solidFill>
            <a:srgbClr val="F4F6F8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4123944"/>
            <a:ext cx="64008" cy="713232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4160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Missed / Methods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64608" y="445312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method chưa được gọi bởi bất kỳ TC nào.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JACOCO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Jacoco — Báo cáo HTML thực tế từ dự án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insurance-management · controller package: C1=100% Branch Coverage 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13 / 15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/>
          <a:srcRect/>
          <a:stretch/>
        </p:blipFill>
        <p:spPr>
          <a:xfrm>
            <a:off x="320040" y="1389888"/>
            <a:ext cx="585216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389888"/>
            <a:ext cx="585216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0D8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9360" y="1389888"/>
            <a:ext cx="25146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389888"/>
            <a:ext cx="25146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389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 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82512" y="1737360"/>
            <a:ext cx="2359152" cy="566928"/>
          </a:xfrm>
          <a:prstGeom prst="rect">
            <a:avLst/>
          </a:prstGeom>
          <a:solidFill>
            <a:srgbClr val="F4F6F8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82512" y="1737360"/>
            <a:ext cx="64008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28816" y="1773936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28816" y="2011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C1: 100%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Branch đạt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382512" y="3054096"/>
            <a:ext cx="2359152" cy="566928"/>
          </a:xfrm>
          <a:prstGeom prst="rect">
            <a:avLst/>
          </a:prstGeom>
          <a:solidFill>
            <a:srgbClr val="F4F6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3054096"/>
            <a:ext cx="64008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28816" y="309067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28816" y="33284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C0: 8%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TC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382512" y="3712464"/>
            <a:ext cx="2359152" cy="566928"/>
          </a:xfrm>
          <a:prstGeom prst="rect">
            <a:avLst/>
          </a:prstGeom>
          <a:solidFill>
            <a:srgbClr val="F4F6F8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82512" y="3712464"/>
            <a:ext cx="64008" cy="5669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28816" y="374904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528816" y="39867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branch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project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0040" y="4407408"/>
            <a:ext cx="8503920" cy="47548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8056" y="4407408"/>
            <a:ext cx="8247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Cách đọc: Cột 'Cov.' màu xanh = đã cover, đỏ = missed. Drill down vào từng package → class → method để xem chi tiết từng dòng code được cover không.</a:t>
            </a:r>
            <a:endParaRPr lang="en-US" sz="1050" dirty="0"/>
          </a:p>
        </p:txBody>
      </p:sp>
      <p:pic>
        <p:nvPicPr>
          <p:cNvPr id="30" name="Picture 29" descr="178107828404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89888"/>
            <a:ext cx="5852160" cy="27432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83297C74-B297-7C52-367F-C98C3069F3D1}"/>
              </a:ext>
            </a:extLst>
          </p:cNvPr>
          <p:cNvGrpSpPr/>
          <p:nvPr/>
        </p:nvGrpSpPr>
        <p:grpSpPr>
          <a:xfrm>
            <a:off x="6382512" y="2377440"/>
            <a:ext cx="2359152" cy="566928"/>
            <a:chOff x="6382512" y="2395728"/>
            <a:chExt cx="2359152" cy="566928"/>
          </a:xfrm>
        </p:grpSpPr>
        <p:sp>
          <p:nvSpPr>
            <p:cNvPr id="16" name="Shape 13"/>
            <p:cNvSpPr/>
            <p:nvPr/>
          </p:nvSpPr>
          <p:spPr>
            <a:xfrm>
              <a:off x="6382512" y="2395728"/>
              <a:ext cx="2359152" cy="566928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F57F17"/>
              </a:solidFill>
              <a:prstDash val="solid"/>
            </a:ln>
          </p:spPr>
        </p:sp>
        <p:sp>
          <p:nvSpPr>
            <p:cNvPr id="17" name="Shape 14"/>
            <p:cNvSpPr/>
            <p:nvPr/>
          </p:nvSpPr>
          <p:spPr>
            <a:xfrm>
              <a:off x="6382512" y="2395728"/>
              <a:ext cx="64008" cy="566928"/>
            </a:xfrm>
            <a:prstGeom prst="rect">
              <a:avLst/>
            </a:prstGeom>
            <a:solidFill>
              <a:srgbClr val="F57F17"/>
            </a:solidFill>
            <a:ln w="12700">
              <a:solidFill>
                <a:srgbClr val="F57F17"/>
              </a:solidFill>
              <a:prstDash val="solid"/>
            </a:ln>
          </p:spPr>
        </p:sp>
        <p:sp>
          <p:nvSpPr>
            <p:cNvPr id="18" name="Text 15"/>
            <p:cNvSpPr/>
            <p:nvPr/>
          </p:nvSpPr>
          <p:spPr>
            <a:xfrm>
              <a:off x="6528816" y="2432304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57F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service.impl</a:t>
              </a:r>
              <a:endParaRPr lang="en-US" sz="10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6528816" y="2670048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C0: 55%</a:t>
              </a:r>
              <a:endParaRPr lang="en-US" sz="950" dirty="0"/>
            </a:p>
            <a:p>
              <a:pPr marL="0" indent="0">
                <a:buNone/>
              </a:pPr>
              <a:r>
                <a:rPr lang="en-US" sz="95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Cần thêm TC</a:t>
              </a:r>
              <a:endParaRPr lang="en-US" sz="950" dirty="0"/>
            </a:p>
          </p:txBody>
        </p:sp>
      </p:grpSp>
      <p:sp>
        <p:nvSpPr>
          <p:cNvPr id="32" name="Speech Bubble: Rectangle 31">
            <a:extLst>
              <a:ext uri="{FF2B5EF4-FFF2-40B4-BE49-F238E27FC236}">
                <a16:creationId xmlns:a16="http://schemas.microsoft.com/office/drawing/2014/main" id="{1291FB50-7F4C-297A-2D3C-79CEC2B9E60C}"/>
              </a:ext>
            </a:extLst>
          </p:cNvPr>
          <p:cNvSpPr/>
          <p:nvPr/>
        </p:nvSpPr>
        <p:spPr>
          <a:xfrm>
            <a:off x="2109018" y="1921776"/>
            <a:ext cx="518556" cy="244306"/>
          </a:xfrm>
          <a:prstGeom prst="wedgeRectCallout">
            <a:avLst>
              <a:gd name="adj1" fmla="val -35233"/>
              <a:gd name="adj2" fmla="val 13678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C0</a:t>
            </a:r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3CACCA3A-D7A2-C4CC-83CE-05FFA0DB994D}"/>
              </a:ext>
            </a:extLst>
          </p:cNvPr>
          <p:cNvSpPr/>
          <p:nvPr/>
        </p:nvSpPr>
        <p:spPr>
          <a:xfrm>
            <a:off x="2848914" y="1921776"/>
            <a:ext cx="518556" cy="244306"/>
          </a:xfrm>
          <a:prstGeom prst="wedgeRectCallout">
            <a:avLst>
              <a:gd name="adj1" fmla="val -35233"/>
              <a:gd name="adj2" fmla="val 13678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C6C612D8-6854-6535-D31C-8F80241E79A9}"/>
              </a:ext>
            </a:extLst>
          </p:cNvPr>
          <p:cNvSpPr/>
          <p:nvPr/>
        </p:nvSpPr>
        <p:spPr>
          <a:xfrm>
            <a:off x="3449766" y="1871239"/>
            <a:ext cx="1513124" cy="244306"/>
          </a:xfrm>
          <a:prstGeom prst="wedgeRectCallout">
            <a:avLst>
              <a:gd name="adj1" fmla="val -35233"/>
              <a:gd name="adj2" fmla="val 13678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Gần giống C2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chạy Test — All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tests · 0 failures · 0 skipped · 100% successful · 11.584s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14 / 15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/>
          <a:srcRect/>
          <a:stretch/>
        </p:blipFill>
        <p:spPr>
          <a:xfrm>
            <a:off x="320040" y="1389888"/>
            <a:ext cx="585216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389888"/>
            <a:ext cx="5852160" cy="3200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0D8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9360" y="1389888"/>
            <a:ext cx="2514600" cy="3200400"/>
          </a:xfrm>
          <a:prstGeom prst="rect">
            <a:avLst/>
          </a:prstGeom>
          <a:solidFill>
            <a:srgbClr val="F4F6F8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389888"/>
            <a:ext cx="25146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389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kết quả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82512" y="1737360"/>
            <a:ext cx="2359152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82512" y="1737360"/>
            <a:ext cx="64008" cy="6217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28816" y="1773936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528816" y="204825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TC  </a:t>
            </a: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7.932s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485632" y="1901952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1901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82512" y="2450592"/>
            <a:ext cx="2359152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82512" y="2450592"/>
            <a:ext cx="64008" cy="6217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28816" y="248716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InsuranceController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528816" y="2761488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TC  </a:t>
            </a: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0.803s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485632" y="2615184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85632" y="2615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382512" y="3163824"/>
            <a:ext cx="2359152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82512" y="3163824"/>
            <a:ext cx="6400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28816" y="3200400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528816" y="347472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TC  </a:t>
            </a: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0.216s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485632" y="3328416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85632" y="3328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382512" y="3877056"/>
            <a:ext cx="2359152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82512" y="3877056"/>
            <a:ext cx="6400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28816" y="3913632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InsuranceService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528816" y="4187952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TC  </a:t>
            </a: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0.491s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485632" y="4041648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85632" y="4041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382512" y="4608576"/>
            <a:ext cx="2359152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82512" y="460857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TỔNG: 29 TC · 100% PASS</a:t>
            </a:r>
            <a:endParaRPr lang="en-US" sz="1000" dirty="0"/>
          </a:p>
        </p:txBody>
      </p:sp>
      <p:pic>
        <p:nvPicPr>
          <p:cNvPr id="38" name="Picture 37" descr="1781078288156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89888"/>
            <a:ext cx="58521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Tóm tắt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@WebMvcTest load chỉ Controller layer — nhanh hơn @SpringBootTest ~10x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9047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@MockBean thay vì @Mock — Spring-aware, tương thích với @WebMvcTest context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2938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mockMvc.perform(get(...)).andExpect(...) — When+Then trong 1 chain MockMvc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6829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status().isOk() / isBadRequest() — cụ thể, không dùng is2xxSuccessful()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0720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JaCoCo: ./gradlew test jacocoTestReport → build/reports/jacoco/test/html/index.html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mẫu: 29 TC · 0 failures · controller package đạt C1=100%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83210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Tài nguyên đính kèm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📦  UT_TestCase_Template_Sample.xlsx — Excel TC_09~TC_19 map 1-1 với 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5720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💻  Tiếp theo: Bài tập thực hành MH02 Service layer (TC_20~TC_23)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3033</Words>
  <Application>Microsoft Office PowerPoint</Application>
  <PresentationFormat>On-screen Show (16:9)</PresentationFormat>
  <Paragraphs>444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BIZ UDPゴシック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Duy Hai</cp:lastModifiedBy>
  <cp:revision>6</cp:revision>
  <dcterms:created xsi:type="dcterms:W3CDTF">2013-01-27T09:14:16Z</dcterms:created>
  <dcterms:modified xsi:type="dcterms:W3CDTF">2026-06-10T11:07:00Z</dcterms:modified>
  <cp:category/>
</cp:coreProperties>
</file>